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6" r:id="rId6"/>
    <p:sldId id="260" r:id="rId7"/>
    <p:sldId id="261" r:id="rId8"/>
    <p:sldId id="262" r:id="rId9"/>
    <p:sldId id="263" r:id="rId10"/>
    <p:sldId id="268" r:id="rId11"/>
    <p:sldId id="264" r:id="rId12"/>
    <p:sldId id="265" r:id="rId13"/>
    <p:sldId id="267" r:id="rId1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80" d="100"/>
          <a:sy n="80" d="100"/>
        </p:scale>
        <p:origin x="782" y="-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BE6E14-3CC3-4013-B730-583D787553E6}" type="datetimeFigureOut">
              <a:rPr lang="pt-BR" smtClean="0"/>
              <a:t>11/07/2025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08C750-A151-499C-B3D5-3358091A844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3262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08C750-A151-499C-B3D5-3358091A8441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034804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82001-40C6-1128-B950-6EAF3B7C8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39F0C3F-5B6D-97FC-B457-14B6DED539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CF6F0EA-70E7-B4B9-555A-5D141CB9AC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BCA9121-9286-B299-A8F3-2038576515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08C750-A151-499C-B3D5-3358091A8441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04824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36AA9-43C5-4872-B94D-7449A6A0B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1CE3D89-00FB-5BE9-EDB9-3B09C5B2DD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13E8762-3E9F-CE59-3659-C0F37AFFF2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A5C8E8A-4F6A-5ED7-05F8-49096CD505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08C750-A151-499C-B3D5-3358091A8441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36771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CB7E3-EB0D-81D8-3C53-4D08FC79B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6BC084D-CF68-4FA3-E5BB-06C0A928CF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CC920D6-7453-98A7-3075-93CF07BA55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2C61FF7-1F5A-D40F-A0F8-FDDDEE408C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08C750-A151-499C-B3D5-3358091A8441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58535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F57B7-0E8D-F5A4-B006-D67DB71F5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82F1D8E-8244-3EAB-8689-A35D855179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4C2A61A-165F-B47A-7FE0-A1D0A0540F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34C4A76-12DB-57B8-0489-3888472710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08C750-A151-499C-B3D5-3358091A8441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68817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2B900-1DEB-419D-00BE-96BAA5F5D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B46920D-68B0-3523-91B8-EE2039E93D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732FFD6-DC4A-8F38-341D-E52626274F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CEC0BB7-E03A-5B13-63BE-81BB49CA3A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08C750-A151-499C-B3D5-3358091A8441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66422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4AF5E-F258-51E7-0F50-A9884FF55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D3CAAA8-76CB-E19D-0416-DFA1EF7F0C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9878DF4-C500-B12B-2356-14F69F8A34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E3E4FAA-E3FA-1DBE-F382-89FE5A02F4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08C750-A151-499C-B3D5-3358091A8441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05351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5113B-37D5-824B-2C82-5FFF50AC3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0F5EA88-1D1D-D198-52A5-59DA278DB9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2A20AC4-C4E8-D955-6A2B-4AD31EDBC5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03919B5-1C6C-2A45-537D-8B00596AEA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08C750-A151-499C-B3D5-3358091A8441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38182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A2528-707D-203C-D989-14BB8BC93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60A0397-843C-0F4D-C51B-36C2A735B4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D7DA3C7-EB29-EA2A-EAFB-1ECE8578B7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4D07160-2E89-C9FA-D044-99D9D5FF03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08C750-A151-499C-B3D5-3358091A8441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32622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37D30-FD80-A8D0-7DD5-AFA72CA33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8E3B710-F353-14E4-37C5-29F8061F66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3478AA5-3146-57A0-EC7F-F4784A942C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5FCD7CF-796D-4E3E-73B4-00E5F3D3A2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08C750-A151-499C-B3D5-3358091A8441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11658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0DF0EB-030F-DB71-B034-6682CEE87E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CC85E10-286C-869E-5C07-AB3C7482A7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009C7E2-D888-9DCA-01B8-3263EC201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C0B8B-302D-483A-9D57-AF324653014E}" type="datetimeFigureOut">
              <a:rPr lang="pt-BR" smtClean="0"/>
              <a:t>11/07/2025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5AE8AE9-4B7F-ECD0-FB6D-398D7D6D8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EDFE654-A788-D861-5F02-AE87BA085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257D0-C428-4C65-8C7E-2686991D4A0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0547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EE9D15-8990-4435-FD44-D49DFA665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B941335-F869-60F3-B52E-CFC97D717E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DA66B8A-806A-D3EB-7236-BBB815F3B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C0B8B-302D-483A-9D57-AF324653014E}" type="datetimeFigureOut">
              <a:rPr lang="pt-BR" smtClean="0"/>
              <a:t>11/07/2025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BA0BB58-85EE-E3A8-1543-5BD52695F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4BCCD85-70D8-E8DA-F88B-2CA368178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257D0-C428-4C65-8C7E-2686991D4A0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0044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99B849-96EE-F835-5038-E22A7C86F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AAD929B-41C8-118E-7F38-7A955561B2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2DA72B0-0405-C7D1-EA0E-974011274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C0B8B-302D-483A-9D57-AF324653014E}" type="datetimeFigureOut">
              <a:rPr lang="pt-BR" smtClean="0"/>
              <a:t>11/07/2025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A7A4E51-021E-30CD-E030-457DFB9C3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E5E9ADD-7F10-287D-82A4-3B2BBA7CD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257D0-C428-4C65-8C7E-2686991D4A0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003428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06D95C-E2D5-6264-8918-862E61C41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49352CE-E6D1-6DA1-D091-BBD4CF6DC3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8B4A719-E773-2762-8A4F-660DC6569A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0B60401-26EB-588D-DD73-655DC58AA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C0B8B-302D-483A-9D57-AF324653014E}" type="datetimeFigureOut">
              <a:rPr lang="pt-BR" smtClean="0"/>
              <a:t>11/07/2025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A6EDF20-6603-D2AC-6B29-CCDD66D85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4BB0BAE-2828-2A7B-1B8A-722586D56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257D0-C428-4C65-8C7E-2686991D4A0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3436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F43703-7BBE-B5E7-38BA-73A57F5D0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A27AF8F-A104-3426-9F99-B9FA1309CC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D1CE2B9-3A01-8A5E-E467-6918B39466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FA6E0EE-4B76-BFDF-1868-148D31D8F2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C7EEEBF-093F-52B6-0261-663341D15D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3508EC8-CF72-8697-96E7-42861F12E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C0B8B-302D-483A-9D57-AF324653014E}" type="datetimeFigureOut">
              <a:rPr lang="pt-BR" smtClean="0"/>
              <a:t>11/07/2025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ECBDE37-3C12-4DE0-73B9-DF0D316AE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134F563-0EE4-6AAA-A261-594B2B47B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257D0-C428-4C65-8C7E-2686991D4A0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1145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ECE7B3-850A-159B-97D6-2EF10CF14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1E11EC7-282E-165B-A5BC-B57773ED0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C0B8B-302D-483A-9D57-AF324653014E}" type="datetimeFigureOut">
              <a:rPr lang="pt-BR" smtClean="0"/>
              <a:t>11/07/2025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31404C8-16A7-592A-7953-64669DF82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9A3D99B-C3B8-052F-8224-D5358EE1B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257D0-C428-4C65-8C7E-2686991D4A0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365972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7FB1B5C-F343-063B-7A99-F4F80C55B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C0B8B-302D-483A-9D57-AF324653014E}" type="datetimeFigureOut">
              <a:rPr lang="pt-BR" smtClean="0"/>
              <a:t>11/07/2025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447576F-BB86-324D-9C11-D5D99DEFA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CCD6EDE-CD9F-8545-4664-66D1B913C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257D0-C428-4C65-8C7E-2686991D4A0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74373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2B1BCE-F944-FB93-7FA4-727A7ACF6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1E5D9A0-3BEB-64EF-8003-1979EC1F0F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1694837-1C9E-6DA6-DFD8-4433C8B974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F47360C-3934-3983-86D4-09DFD22FB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C0B8B-302D-483A-9D57-AF324653014E}" type="datetimeFigureOut">
              <a:rPr lang="pt-BR" smtClean="0"/>
              <a:t>11/07/2025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F224AD2-F778-A6DF-6802-4C8482577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80E712C-E03F-AD9F-B5D3-1389E4E18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257D0-C428-4C65-8C7E-2686991D4A0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8501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44D5BC-C95D-D0BA-84BB-C0644A1A8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75B0591-C54B-8718-C725-95DE697215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3143105-6091-EA24-5DA0-64592DB76C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22661D2-655E-4B78-D9BD-963B0F23A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C0B8B-302D-483A-9D57-AF324653014E}" type="datetimeFigureOut">
              <a:rPr lang="pt-BR" smtClean="0"/>
              <a:t>11/07/2025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4D5B2D6-7524-55A3-E431-AC57EBE5E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774A494-770B-AFC8-48C1-E3D1D3398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257D0-C428-4C65-8C7E-2686991D4A0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4796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B92E86-8652-732D-BADD-0E6D75C4F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E6A171B-CD4E-607A-DD21-9EB8209A66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7FE6F48-F20A-3782-0007-B8CC7C21E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C0B8B-302D-483A-9D57-AF324653014E}" type="datetimeFigureOut">
              <a:rPr lang="pt-BR" smtClean="0"/>
              <a:t>11/07/2025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46D1343-BCF3-26A6-4E9B-DD6B5AEE3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9BF8A0-DC35-410C-E82E-023F029EB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257D0-C428-4C65-8C7E-2686991D4A0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39064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E27077-E674-660C-19B7-22AAF7C0A9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D0FA4EB-FA41-14CA-964F-440AD6F50C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E0981E-BA4C-4E23-F9F8-71DC25795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C0B8B-302D-483A-9D57-AF324653014E}" type="datetimeFigureOut">
              <a:rPr lang="pt-BR" smtClean="0"/>
              <a:t>11/07/2025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0679D5A-F04D-24BD-96D1-424F6A59D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F9D83D2-E714-2726-C9EC-C6BCB48F4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257D0-C428-4C65-8C7E-2686991D4A0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3891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CBDD13E-F601-CFD8-D672-B9E4FB76E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4549A77-7415-3DD0-1B47-0694841DD8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526A8EB-53F2-0C28-913A-76580875AC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FC0B8B-302D-483A-9D57-AF324653014E}" type="datetimeFigureOut">
              <a:rPr lang="pt-BR" smtClean="0"/>
              <a:t>11/07/2025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0211D0E-7B2A-9D95-6DF6-93DF2B46FA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E7853A5-6C2B-A75E-1108-BDA98760F5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9257D0-C428-4C65-8C7E-2686991D4A0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6502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A1DDBE-5A3E-74E7-FEB0-C17F595266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Artigo: PGA para VLC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B5E9E3D-CCC7-DA15-1DA4-39E8551F88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660940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CEC616-047C-188B-4C6B-862D93B30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Objetivos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124C48D-18E2-1039-A44E-4C5457A334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438650" cy="3976461"/>
          </a:xfrm>
        </p:spPr>
        <p:txBody>
          <a:bodyPr/>
          <a:lstStyle/>
          <a:p>
            <a:r>
              <a:rPr lang="pt-BR" dirty="0"/>
              <a:t>Protótipo de um Receptor com PGA para aplicações VLC;</a:t>
            </a:r>
          </a:p>
          <a:p>
            <a:r>
              <a:rPr lang="pt-BR" dirty="0"/>
              <a:t>Análise da SNR no receptor com e sem PGA</a:t>
            </a:r>
          </a:p>
          <a:p>
            <a:r>
              <a:rPr lang="pt-BR" dirty="0"/>
              <a:t>Comparação entre simulação e resultados práticos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F4BF404-7326-7120-CDEB-3EEB12E644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1150" y="1954658"/>
            <a:ext cx="6706280" cy="3847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0754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DFD6A-5A1E-51E6-1B6A-82AFA3F96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F28DDD-40E2-3980-8E12-012BC9953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Ambiente de Testes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68F517-16CE-FF29-3F32-788D09500F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438650" cy="3976461"/>
          </a:xfrm>
        </p:spPr>
        <p:txBody>
          <a:bodyPr/>
          <a:lstStyle/>
          <a:p>
            <a:r>
              <a:rPr lang="pt-BR" dirty="0"/>
              <a:t>Sala anexa ao </a:t>
            </a:r>
            <a:r>
              <a:rPr lang="pt-BR" dirty="0" err="1"/>
              <a:t>Nimo</a:t>
            </a:r>
            <a:endParaRPr lang="pt-BR" dirty="0"/>
          </a:p>
          <a:p>
            <a:r>
              <a:rPr lang="pt-BR" dirty="0"/>
              <a:t>Um transmissor</a:t>
            </a:r>
          </a:p>
          <a:p>
            <a:r>
              <a:rPr lang="pt-BR" dirty="0"/>
              <a:t>Um receptor</a:t>
            </a:r>
          </a:p>
          <a:p>
            <a:r>
              <a:rPr lang="pt-BR" dirty="0"/>
              <a:t>4 fontes de ruído (sol + luminárias)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A35064B-7597-069D-751E-3F6AD063E9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4036" y="1457892"/>
            <a:ext cx="5969764" cy="4344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1522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2688F-9722-7376-A65C-64A00C23B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9755D3-8379-07E2-DACD-BC071CB57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Resultados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F8612B4-640D-87D5-63DA-DD31E90AC3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353800" cy="3976461"/>
          </a:xfrm>
        </p:spPr>
        <p:txBody>
          <a:bodyPr/>
          <a:lstStyle/>
          <a:p>
            <a:r>
              <a:rPr lang="pt-BR" dirty="0"/>
              <a:t>Análise da SNR no receptor com e sem PGA (Prático e Simulado)</a:t>
            </a:r>
          </a:p>
          <a:p>
            <a:r>
              <a:rPr lang="pt-BR" dirty="0"/>
              <a:t>Tensão na saída do TIA</a:t>
            </a:r>
          </a:p>
          <a:p>
            <a:r>
              <a:rPr lang="pt-BR" dirty="0"/>
              <a:t>Tensão na saída dos filtros</a:t>
            </a:r>
          </a:p>
          <a:p>
            <a:r>
              <a:rPr lang="pt-BR" dirty="0"/>
              <a:t>Tensão na saída do PGA</a:t>
            </a:r>
          </a:p>
          <a:p>
            <a:r>
              <a:rPr lang="pt-BR" dirty="0"/>
              <a:t>Variação da iluminância</a:t>
            </a:r>
          </a:p>
          <a:p>
            <a:r>
              <a:rPr lang="pt-BR" dirty="0"/>
              <a:t>Variação em posições do ambiente ( extremidades + centro (5 pontos))</a:t>
            </a:r>
          </a:p>
          <a:p>
            <a:pPr marL="0" indent="0">
              <a:buNone/>
            </a:pPr>
            <a:endParaRPr lang="pt-BR" dirty="0"/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62995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91868-2A31-43D7-5C5B-2C0E1DAA1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77D7F7-C515-1992-EA56-622B01678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Resultados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0AEFBED-CC7B-B135-09BD-224CC92176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1776"/>
            <a:ext cx="10610850" cy="21844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pt-BR" dirty="0"/>
              <a:t>0-  Medição  da Curva espectral, fluxo luminoso e potência (W)</a:t>
            </a:r>
          </a:p>
          <a:p>
            <a:r>
              <a:rPr lang="pt-BR" dirty="0"/>
              <a:t>4 lâmpadas do ambiente de teste</a:t>
            </a:r>
          </a:p>
          <a:p>
            <a:r>
              <a:rPr lang="pt-BR" dirty="0"/>
              <a:t>Esfera integradora e </a:t>
            </a:r>
            <a:r>
              <a:rPr lang="pt-BR" dirty="0" err="1"/>
              <a:t>Yokogawa</a:t>
            </a:r>
            <a:endParaRPr lang="pt-BR" dirty="0"/>
          </a:p>
          <a:p>
            <a:r>
              <a:rPr lang="pt-BR" dirty="0" err="1"/>
              <a:t>chrome-extension</a:t>
            </a:r>
            <a:r>
              <a:rPr lang="pt-BR" dirty="0"/>
              <a:t>://</a:t>
            </a:r>
            <a:r>
              <a:rPr lang="pt-BR" dirty="0" err="1"/>
              <a:t>efaidnbmnnnibpcajpcglclefindmkaj</a:t>
            </a:r>
            <a:r>
              <a:rPr lang="pt-BR" dirty="0"/>
              <a:t>/https://www2.ufjf.br/nimo/wp-content/uploads/sites/570/2008/10/Esfera-integradora1.pdf 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898857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4901F-00E6-48DD-DF55-E062D53C0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D5648C-C319-3787-1F06-5F12DF0F8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Resultados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92A33F2-B4D2-06FB-4BF1-FDD8E18B9E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1776"/>
            <a:ext cx="10610850" cy="2184400"/>
          </a:xfrm>
        </p:spPr>
        <p:txBody>
          <a:bodyPr/>
          <a:lstStyle/>
          <a:p>
            <a:pPr marL="0" indent="0">
              <a:buNone/>
            </a:pPr>
            <a:r>
              <a:rPr lang="pt-BR" dirty="0"/>
              <a:t>1- Curva de responsividade do fotodetector</a:t>
            </a:r>
          </a:p>
          <a:p>
            <a:r>
              <a:rPr lang="pt-BR" dirty="0"/>
              <a:t>Tensão na saída do TIA com variação de iluminância ( até saturar) </a:t>
            </a:r>
          </a:p>
          <a:p>
            <a:r>
              <a:rPr lang="pt-BR" dirty="0"/>
              <a:t>Utilizar mesma lâmpada do teste VLC, mas sem modulação</a:t>
            </a:r>
          </a:p>
          <a:p>
            <a:r>
              <a:rPr lang="pt-BR" dirty="0"/>
              <a:t>Ir aproximando a  lâmpada  e medindo a tensão na saída do TIA</a:t>
            </a:r>
          </a:p>
          <a:p>
            <a:pPr marL="0" indent="0">
              <a:buNone/>
            </a:pPr>
            <a:endParaRPr lang="pt-BR" dirty="0"/>
          </a:p>
        </p:txBody>
      </p:sp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10A7841E-589F-DDB1-1C6C-2C2EFE8D5EED}"/>
              </a:ext>
            </a:extLst>
          </p:cNvPr>
          <p:cNvCxnSpPr/>
          <p:nvPr/>
        </p:nvCxnSpPr>
        <p:spPr>
          <a:xfrm>
            <a:off x="3752850" y="5638800"/>
            <a:ext cx="40862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CE8C5749-58DE-C899-D371-1533DDE422F4}"/>
              </a:ext>
            </a:extLst>
          </p:cNvPr>
          <p:cNvCxnSpPr/>
          <p:nvPr/>
        </p:nvCxnSpPr>
        <p:spPr>
          <a:xfrm flipV="1">
            <a:off x="3867150" y="3686176"/>
            <a:ext cx="0" cy="21335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tângulo 7">
            <a:extLst>
              <a:ext uri="{FF2B5EF4-FFF2-40B4-BE49-F238E27FC236}">
                <a16:creationId xmlns:a16="http://schemas.microsoft.com/office/drawing/2014/main" id="{CB494CAE-D0B9-0329-52EA-AAB1A2E9D64C}"/>
              </a:ext>
            </a:extLst>
          </p:cNvPr>
          <p:cNvSpPr/>
          <p:nvPr/>
        </p:nvSpPr>
        <p:spPr>
          <a:xfrm>
            <a:off x="7241938" y="5638800"/>
            <a:ext cx="508473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</a:t>
            </a:r>
            <a:r>
              <a:rPr lang="pt-BR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ux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7A4DC7F3-A50C-8AEA-CB09-4BAED0F3260B}"/>
              </a:ext>
            </a:extLst>
          </p:cNvPr>
          <p:cNvSpPr/>
          <p:nvPr/>
        </p:nvSpPr>
        <p:spPr>
          <a:xfrm>
            <a:off x="3138002" y="3686176"/>
            <a:ext cx="614848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20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Vtia</a:t>
            </a:r>
            <a:endParaRPr lang="pt-BR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1" name="Conector: Curvo 10">
            <a:extLst>
              <a:ext uri="{FF2B5EF4-FFF2-40B4-BE49-F238E27FC236}">
                <a16:creationId xmlns:a16="http://schemas.microsoft.com/office/drawing/2014/main" id="{D7AD64F1-B545-8A78-CDBF-249CF63B2229}"/>
              </a:ext>
            </a:extLst>
          </p:cNvPr>
          <p:cNvCxnSpPr>
            <a:cxnSpLocks/>
          </p:cNvCxnSpPr>
          <p:nvPr/>
        </p:nvCxnSpPr>
        <p:spPr>
          <a:xfrm flipV="1">
            <a:off x="3867150" y="4398184"/>
            <a:ext cx="2028826" cy="1240616"/>
          </a:xfrm>
          <a:prstGeom prst="curvedConnector3">
            <a:avLst>
              <a:gd name="adj1" fmla="val 2934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tângulo 13">
            <a:extLst>
              <a:ext uri="{FF2B5EF4-FFF2-40B4-BE49-F238E27FC236}">
                <a16:creationId xmlns:a16="http://schemas.microsoft.com/office/drawing/2014/main" id="{0E2A2525-53A8-E207-BCA9-9EF282E03A85}"/>
              </a:ext>
            </a:extLst>
          </p:cNvPr>
          <p:cNvSpPr/>
          <p:nvPr/>
        </p:nvSpPr>
        <p:spPr>
          <a:xfrm>
            <a:off x="5455677" y="3905191"/>
            <a:ext cx="1295419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saturação</a:t>
            </a:r>
          </a:p>
        </p:txBody>
      </p:sp>
    </p:spTree>
    <p:extLst>
      <p:ext uri="{BB962C8B-B14F-4D97-AF65-F5344CB8AC3E}">
        <p14:creationId xmlns:p14="http://schemas.microsoft.com/office/powerpoint/2010/main" val="31544003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146AD-C283-BC72-3905-AF667AABA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B78923-2344-A490-60FB-2A842AC8B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Resultados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99BB2DB-4DF9-F2C0-82E6-4AD2E430A4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1776"/>
            <a:ext cx="10610850" cy="2184400"/>
          </a:xfrm>
        </p:spPr>
        <p:txBody>
          <a:bodyPr/>
          <a:lstStyle/>
          <a:p>
            <a:pPr marL="0" indent="0">
              <a:buNone/>
            </a:pPr>
            <a:r>
              <a:rPr lang="pt-BR" dirty="0"/>
              <a:t>2- Tensão no TIA, filtro, PGA em posições do ambiente (5 pontos) </a:t>
            </a:r>
          </a:p>
          <a:p>
            <a:r>
              <a:rPr lang="pt-BR" b="1" dirty="0">
                <a:solidFill>
                  <a:srgbClr val="FF0000"/>
                </a:solidFill>
              </a:rPr>
              <a:t>Apenas transmissor VLC ligado em 1 kHz</a:t>
            </a:r>
          </a:p>
          <a:p>
            <a:r>
              <a:rPr lang="pt-BR" dirty="0"/>
              <a:t>Configurar o PGA para o máximo ganho sem saturação</a:t>
            </a:r>
          </a:p>
        </p:txBody>
      </p:sp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CB37ABF1-2CA4-7C85-D5BD-852CF4E902B4}"/>
              </a:ext>
            </a:extLst>
          </p:cNvPr>
          <p:cNvCxnSpPr>
            <a:cxnSpLocks/>
          </p:cNvCxnSpPr>
          <p:nvPr/>
        </p:nvCxnSpPr>
        <p:spPr>
          <a:xfrm>
            <a:off x="1600200" y="5356224"/>
            <a:ext cx="23431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2E56F83E-FD63-E0C2-BD5C-70F4B32D353B}"/>
              </a:ext>
            </a:extLst>
          </p:cNvPr>
          <p:cNvCxnSpPr/>
          <p:nvPr/>
        </p:nvCxnSpPr>
        <p:spPr>
          <a:xfrm flipV="1">
            <a:off x="1714500" y="3403600"/>
            <a:ext cx="0" cy="21335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tângulo 7">
            <a:extLst>
              <a:ext uri="{FF2B5EF4-FFF2-40B4-BE49-F238E27FC236}">
                <a16:creationId xmlns:a16="http://schemas.microsoft.com/office/drawing/2014/main" id="{119447BC-C500-DD8F-D341-4310E0A89C02}"/>
              </a:ext>
            </a:extLst>
          </p:cNvPr>
          <p:cNvSpPr/>
          <p:nvPr/>
        </p:nvSpPr>
        <p:spPr>
          <a:xfrm>
            <a:off x="3434877" y="5375184"/>
            <a:ext cx="508473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</a:t>
            </a:r>
            <a:r>
              <a:rPr lang="pt-BR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ux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77A0FBF4-7283-1823-BFF9-D7C58A21F222}"/>
              </a:ext>
            </a:extLst>
          </p:cNvPr>
          <p:cNvSpPr/>
          <p:nvPr/>
        </p:nvSpPr>
        <p:spPr>
          <a:xfrm>
            <a:off x="985352" y="3403600"/>
            <a:ext cx="614848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20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Vtia</a:t>
            </a:r>
            <a:endParaRPr lang="pt-BR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F3D11DF6-BEAF-492E-AFB2-49CB06D0CDB3}"/>
              </a:ext>
            </a:extLst>
          </p:cNvPr>
          <p:cNvSpPr/>
          <p:nvPr/>
        </p:nvSpPr>
        <p:spPr>
          <a:xfrm>
            <a:off x="2124075" y="4708524"/>
            <a:ext cx="190500" cy="1381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8A399569-3A2D-370E-9893-086C14224BA5}"/>
              </a:ext>
            </a:extLst>
          </p:cNvPr>
          <p:cNvSpPr/>
          <p:nvPr/>
        </p:nvSpPr>
        <p:spPr>
          <a:xfrm>
            <a:off x="2479439" y="4251280"/>
            <a:ext cx="190500" cy="1381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89819123-BE76-4DA0-0247-CFF89CE34523}"/>
              </a:ext>
            </a:extLst>
          </p:cNvPr>
          <p:cNvSpPr/>
          <p:nvPr/>
        </p:nvSpPr>
        <p:spPr>
          <a:xfrm>
            <a:off x="2895600" y="4956114"/>
            <a:ext cx="190500" cy="1381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CD1DB3F5-662D-52A7-1528-E5637CBF67D5}"/>
              </a:ext>
            </a:extLst>
          </p:cNvPr>
          <p:cNvSpPr/>
          <p:nvPr/>
        </p:nvSpPr>
        <p:spPr>
          <a:xfrm>
            <a:off x="3244377" y="3951228"/>
            <a:ext cx="190500" cy="1381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522AFF8F-BBD4-B54C-028A-600A47F4EFBC}"/>
              </a:ext>
            </a:extLst>
          </p:cNvPr>
          <p:cNvSpPr/>
          <p:nvPr/>
        </p:nvSpPr>
        <p:spPr>
          <a:xfrm>
            <a:off x="1824038" y="5065622"/>
            <a:ext cx="190500" cy="1381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5" name="Conector de Seta Reta 24">
            <a:extLst>
              <a:ext uri="{FF2B5EF4-FFF2-40B4-BE49-F238E27FC236}">
                <a16:creationId xmlns:a16="http://schemas.microsoft.com/office/drawing/2014/main" id="{EEC4081A-0079-5DCC-7DA6-D7555D91C86D}"/>
              </a:ext>
            </a:extLst>
          </p:cNvPr>
          <p:cNvCxnSpPr>
            <a:cxnSpLocks/>
          </p:cNvCxnSpPr>
          <p:nvPr/>
        </p:nvCxnSpPr>
        <p:spPr>
          <a:xfrm>
            <a:off x="4882047" y="5286299"/>
            <a:ext cx="23431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ector de Seta Reta 25">
            <a:extLst>
              <a:ext uri="{FF2B5EF4-FFF2-40B4-BE49-F238E27FC236}">
                <a16:creationId xmlns:a16="http://schemas.microsoft.com/office/drawing/2014/main" id="{95A83D38-8E41-BACA-ADE0-E8C905E7066D}"/>
              </a:ext>
            </a:extLst>
          </p:cNvPr>
          <p:cNvCxnSpPr/>
          <p:nvPr/>
        </p:nvCxnSpPr>
        <p:spPr>
          <a:xfrm flipV="1">
            <a:off x="4996347" y="3333675"/>
            <a:ext cx="0" cy="21335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tângulo 26">
            <a:extLst>
              <a:ext uri="{FF2B5EF4-FFF2-40B4-BE49-F238E27FC236}">
                <a16:creationId xmlns:a16="http://schemas.microsoft.com/office/drawing/2014/main" id="{581C0294-AE04-A851-2602-8E5A62CC187B}"/>
              </a:ext>
            </a:extLst>
          </p:cNvPr>
          <p:cNvSpPr/>
          <p:nvPr/>
        </p:nvSpPr>
        <p:spPr>
          <a:xfrm>
            <a:off x="6716724" y="5305259"/>
            <a:ext cx="508473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</a:t>
            </a:r>
            <a:r>
              <a:rPr lang="pt-BR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ux</a:t>
            </a: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CC425B9F-CC1B-A1E6-FC83-4CAA0A674F56}"/>
              </a:ext>
            </a:extLst>
          </p:cNvPr>
          <p:cNvSpPr/>
          <p:nvPr/>
        </p:nvSpPr>
        <p:spPr>
          <a:xfrm>
            <a:off x="4153707" y="3333675"/>
            <a:ext cx="841834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20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Vfiltro</a:t>
            </a:r>
            <a:endParaRPr lang="pt-BR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8EB5D8CB-C012-3912-BEED-2FF801CA010E}"/>
              </a:ext>
            </a:extLst>
          </p:cNvPr>
          <p:cNvSpPr/>
          <p:nvPr/>
        </p:nvSpPr>
        <p:spPr>
          <a:xfrm>
            <a:off x="5405922" y="4638599"/>
            <a:ext cx="190500" cy="1381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Elipse 29">
            <a:extLst>
              <a:ext uri="{FF2B5EF4-FFF2-40B4-BE49-F238E27FC236}">
                <a16:creationId xmlns:a16="http://schemas.microsoft.com/office/drawing/2014/main" id="{C7019346-39F5-0D2E-1BD1-61DBAB2C039B}"/>
              </a:ext>
            </a:extLst>
          </p:cNvPr>
          <p:cNvSpPr/>
          <p:nvPr/>
        </p:nvSpPr>
        <p:spPr>
          <a:xfrm>
            <a:off x="5761286" y="4181355"/>
            <a:ext cx="190500" cy="1381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Elipse 30">
            <a:extLst>
              <a:ext uri="{FF2B5EF4-FFF2-40B4-BE49-F238E27FC236}">
                <a16:creationId xmlns:a16="http://schemas.microsoft.com/office/drawing/2014/main" id="{C5CB54F4-E838-D8C5-C6ED-4A13B953591A}"/>
              </a:ext>
            </a:extLst>
          </p:cNvPr>
          <p:cNvSpPr/>
          <p:nvPr/>
        </p:nvSpPr>
        <p:spPr>
          <a:xfrm>
            <a:off x="6177447" y="4886189"/>
            <a:ext cx="190500" cy="1381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Elipse 31">
            <a:extLst>
              <a:ext uri="{FF2B5EF4-FFF2-40B4-BE49-F238E27FC236}">
                <a16:creationId xmlns:a16="http://schemas.microsoft.com/office/drawing/2014/main" id="{D0C7872B-0C02-5098-4C9F-DC9A5204AFB0}"/>
              </a:ext>
            </a:extLst>
          </p:cNvPr>
          <p:cNvSpPr/>
          <p:nvPr/>
        </p:nvSpPr>
        <p:spPr>
          <a:xfrm>
            <a:off x="6526224" y="3881303"/>
            <a:ext cx="190500" cy="1381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F8F56239-44F1-F12F-0B5C-F81E68975671}"/>
              </a:ext>
            </a:extLst>
          </p:cNvPr>
          <p:cNvSpPr/>
          <p:nvPr/>
        </p:nvSpPr>
        <p:spPr>
          <a:xfrm>
            <a:off x="5105885" y="4995697"/>
            <a:ext cx="190500" cy="1381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3" name="Conector de Seta Reta 42">
            <a:extLst>
              <a:ext uri="{FF2B5EF4-FFF2-40B4-BE49-F238E27FC236}">
                <a16:creationId xmlns:a16="http://schemas.microsoft.com/office/drawing/2014/main" id="{1091AEF0-7DB6-ABBA-001B-E4A1EB8E6095}"/>
              </a:ext>
            </a:extLst>
          </p:cNvPr>
          <p:cNvCxnSpPr>
            <a:cxnSpLocks/>
          </p:cNvCxnSpPr>
          <p:nvPr/>
        </p:nvCxnSpPr>
        <p:spPr>
          <a:xfrm>
            <a:off x="8099448" y="5246746"/>
            <a:ext cx="23431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ector de Seta Reta 43">
            <a:extLst>
              <a:ext uri="{FF2B5EF4-FFF2-40B4-BE49-F238E27FC236}">
                <a16:creationId xmlns:a16="http://schemas.microsoft.com/office/drawing/2014/main" id="{CF466C38-4E7A-10BA-D3F3-40D2E0316A6E}"/>
              </a:ext>
            </a:extLst>
          </p:cNvPr>
          <p:cNvCxnSpPr/>
          <p:nvPr/>
        </p:nvCxnSpPr>
        <p:spPr>
          <a:xfrm flipV="1">
            <a:off x="8213748" y="3294122"/>
            <a:ext cx="0" cy="21335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tângulo 44">
            <a:extLst>
              <a:ext uri="{FF2B5EF4-FFF2-40B4-BE49-F238E27FC236}">
                <a16:creationId xmlns:a16="http://schemas.microsoft.com/office/drawing/2014/main" id="{FF3D2992-32E9-BBBB-65F1-9EC3D43DF4AB}"/>
              </a:ext>
            </a:extLst>
          </p:cNvPr>
          <p:cNvSpPr/>
          <p:nvPr/>
        </p:nvSpPr>
        <p:spPr>
          <a:xfrm>
            <a:off x="9934125" y="5265706"/>
            <a:ext cx="508473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</a:t>
            </a:r>
            <a:r>
              <a:rPr lang="pt-BR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ux</a:t>
            </a:r>
          </a:p>
        </p:txBody>
      </p:sp>
      <p:sp>
        <p:nvSpPr>
          <p:cNvPr id="46" name="Retângulo 45">
            <a:extLst>
              <a:ext uri="{FF2B5EF4-FFF2-40B4-BE49-F238E27FC236}">
                <a16:creationId xmlns:a16="http://schemas.microsoft.com/office/drawing/2014/main" id="{73512B9E-FB52-AB2B-E86B-81D1C3155046}"/>
              </a:ext>
            </a:extLst>
          </p:cNvPr>
          <p:cNvSpPr/>
          <p:nvPr/>
        </p:nvSpPr>
        <p:spPr>
          <a:xfrm>
            <a:off x="7424744" y="3294122"/>
            <a:ext cx="734561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20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Vpga</a:t>
            </a:r>
            <a:endParaRPr lang="pt-BR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7" name="Elipse 46">
            <a:extLst>
              <a:ext uri="{FF2B5EF4-FFF2-40B4-BE49-F238E27FC236}">
                <a16:creationId xmlns:a16="http://schemas.microsoft.com/office/drawing/2014/main" id="{83130555-5181-D8C6-F25B-744BB9347ACF}"/>
              </a:ext>
            </a:extLst>
          </p:cNvPr>
          <p:cNvSpPr/>
          <p:nvPr/>
        </p:nvSpPr>
        <p:spPr>
          <a:xfrm>
            <a:off x="8623323" y="4599046"/>
            <a:ext cx="190500" cy="1381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8" name="Elipse 47">
            <a:extLst>
              <a:ext uri="{FF2B5EF4-FFF2-40B4-BE49-F238E27FC236}">
                <a16:creationId xmlns:a16="http://schemas.microsoft.com/office/drawing/2014/main" id="{6A8BEB90-AF99-F532-DA03-47341CB1C68C}"/>
              </a:ext>
            </a:extLst>
          </p:cNvPr>
          <p:cNvSpPr/>
          <p:nvPr/>
        </p:nvSpPr>
        <p:spPr>
          <a:xfrm>
            <a:off x="8978687" y="4141802"/>
            <a:ext cx="190500" cy="1381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9" name="Elipse 48">
            <a:extLst>
              <a:ext uri="{FF2B5EF4-FFF2-40B4-BE49-F238E27FC236}">
                <a16:creationId xmlns:a16="http://schemas.microsoft.com/office/drawing/2014/main" id="{C2FF6669-44A6-600C-4A2C-BB77DD4CCA61}"/>
              </a:ext>
            </a:extLst>
          </p:cNvPr>
          <p:cNvSpPr/>
          <p:nvPr/>
        </p:nvSpPr>
        <p:spPr>
          <a:xfrm>
            <a:off x="9394848" y="4846636"/>
            <a:ext cx="190500" cy="1381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0" name="Elipse 49">
            <a:extLst>
              <a:ext uri="{FF2B5EF4-FFF2-40B4-BE49-F238E27FC236}">
                <a16:creationId xmlns:a16="http://schemas.microsoft.com/office/drawing/2014/main" id="{FF03A8AA-F5D7-0C01-84FD-CAE9798F8B49}"/>
              </a:ext>
            </a:extLst>
          </p:cNvPr>
          <p:cNvSpPr/>
          <p:nvPr/>
        </p:nvSpPr>
        <p:spPr>
          <a:xfrm>
            <a:off x="9743625" y="3841750"/>
            <a:ext cx="190500" cy="1381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1" name="Elipse 50">
            <a:extLst>
              <a:ext uri="{FF2B5EF4-FFF2-40B4-BE49-F238E27FC236}">
                <a16:creationId xmlns:a16="http://schemas.microsoft.com/office/drawing/2014/main" id="{E61F5C16-1900-C6F0-066B-2604E56C929D}"/>
              </a:ext>
            </a:extLst>
          </p:cNvPr>
          <p:cNvSpPr/>
          <p:nvPr/>
        </p:nvSpPr>
        <p:spPr>
          <a:xfrm>
            <a:off x="8323286" y="4956144"/>
            <a:ext cx="190500" cy="1381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247155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C981DD-F4A7-1633-D32F-507D81B92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4DB826-646A-005C-E551-153E60C5E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Resultados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EC7346B-1123-E8B2-0706-3831CE563B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1776"/>
            <a:ext cx="10610850" cy="2184400"/>
          </a:xfrm>
        </p:spPr>
        <p:txBody>
          <a:bodyPr/>
          <a:lstStyle/>
          <a:p>
            <a:pPr marL="0" indent="0">
              <a:buNone/>
            </a:pPr>
            <a:r>
              <a:rPr lang="pt-BR" dirty="0"/>
              <a:t>3- Tensão no TIA, filtro, PGA em posições do ambiente (5 pontos) </a:t>
            </a:r>
          </a:p>
          <a:p>
            <a:r>
              <a:rPr lang="pt-BR" b="1" dirty="0">
                <a:solidFill>
                  <a:srgbClr val="FF0000"/>
                </a:solidFill>
              </a:rPr>
              <a:t>Tudo desligado, sem ruídos ????</a:t>
            </a:r>
          </a:p>
          <a:p>
            <a:r>
              <a:rPr lang="pt-BR" dirty="0"/>
              <a:t>Configurar o PGA para o máximo ganho sem saturação</a:t>
            </a:r>
          </a:p>
          <a:p>
            <a:pPr marL="0" indent="0">
              <a:buNone/>
            </a:pPr>
            <a:endParaRPr lang="pt-BR" dirty="0"/>
          </a:p>
        </p:txBody>
      </p:sp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66E8A8E9-34A1-A7F6-D165-59228A03AA98}"/>
              </a:ext>
            </a:extLst>
          </p:cNvPr>
          <p:cNvCxnSpPr>
            <a:cxnSpLocks/>
          </p:cNvCxnSpPr>
          <p:nvPr/>
        </p:nvCxnSpPr>
        <p:spPr>
          <a:xfrm>
            <a:off x="1600200" y="5356224"/>
            <a:ext cx="23431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8483EF91-CCE6-ED28-762A-59DA2D7492DD}"/>
              </a:ext>
            </a:extLst>
          </p:cNvPr>
          <p:cNvCxnSpPr/>
          <p:nvPr/>
        </p:nvCxnSpPr>
        <p:spPr>
          <a:xfrm flipV="1">
            <a:off x="1714500" y="3403600"/>
            <a:ext cx="0" cy="21335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tângulo 7">
            <a:extLst>
              <a:ext uri="{FF2B5EF4-FFF2-40B4-BE49-F238E27FC236}">
                <a16:creationId xmlns:a16="http://schemas.microsoft.com/office/drawing/2014/main" id="{DA97B306-39C0-9F82-F9B4-9891C53506AC}"/>
              </a:ext>
            </a:extLst>
          </p:cNvPr>
          <p:cNvSpPr/>
          <p:nvPr/>
        </p:nvSpPr>
        <p:spPr>
          <a:xfrm>
            <a:off x="3434877" y="5375184"/>
            <a:ext cx="508473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</a:t>
            </a:r>
            <a:r>
              <a:rPr lang="pt-BR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ux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891E04F6-992D-1501-B686-A65DF4C74CF9}"/>
              </a:ext>
            </a:extLst>
          </p:cNvPr>
          <p:cNvSpPr/>
          <p:nvPr/>
        </p:nvSpPr>
        <p:spPr>
          <a:xfrm>
            <a:off x="985352" y="3403600"/>
            <a:ext cx="614848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20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Vtia</a:t>
            </a:r>
            <a:endParaRPr lang="pt-BR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56FFFF14-53C5-CC0B-F902-701BC517B670}"/>
              </a:ext>
            </a:extLst>
          </p:cNvPr>
          <p:cNvSpPr/>
          <p:nvPr/>
        </p:nvSpPr>
        <p:spPr>
          <a:xfrm>
            <a:off x="2124075" y="4708524"/>
            <a:ext cx="190500" cy="1381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076E74AE-0226-6E0B-5786-255D9F7ADA41}"/>
              </a:ext>
            </a:extLst>
          </p:cNvPr>
          <p:cNvSpPr/>
          <p:nvPr/>
        </p:nvSpPr>
        <p:spPr>
          <a:xfrm>
            <a:off x="2479439" y="4251280"/>
            <a:ext cx="190500" cy="1381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824F20BD-A1D0-EBAC-1677-BF27402BB7D4}"/>
              </a:ext>
            </a:extLst>
          </p:cNvPr>
          <p:cNvSpPr/>
          <p:nvPr/>
        </p:nvSpPr>
        <p:spPr>
          <a:xfrm>
            <a:off x="2895600" y="4956114"/>
            <a:ext cx="190500" cy="1381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205207F2-3CDD-C1D3-2849-61D1544561E2}"/>
              </a:ext>
            </a:extLst>
          </p:cNvPr>
          <p:cNvSpPr/>
          <p:nvPr/>
        </p:nvSpPr>
        <p:spPr>
          <a:xfrm>
            <a:off x="3244377" y="3951228"/>
            <a:ext cx="190500" cy="1381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AF03CAA2-6752-DBE6-3125-67FFD8733862}"/>
              </a:ext>
            </a:extLst>
          </p:cNvPr>
          <p:cNvSpPr/>
          <p:nvPr/>
        </p:nvSpPr>
        <p:spPr>
          <a:xfrm>
            <a:off x="1824038" y="5065622"/>
            <a:ext cx="190500" cy="1381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5" name="Conector de Seta Reta 24">
            <a:extLst>
              <a:ext uri="{FF2B5EF4-FFF2-40B4-BE49-F238E27FC236}">
                <a16:creationId xmlns:a16="http://schemas.microsoft.com/office/drawing/2014/main" id="{A04B4B25-C489-212F-4E5D-F1F76E904C97}"/>
              </a:ext>
            </a:extLst>
          </p:cNvPr>
          <p:cNvCxnSpPr>
            <a:cxnSpLocks/>
          </p:cNvCxnSpPr>
          <p:nvPr/>
        </p:nvCxnSpPr>
        <p:spPr>
          <a:xfrm>
            <a:off x="4882047" y="5286299"/>
            <a:ext cx="23431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ector de Seta Reta 25">
            <a:extLst>
              <a:ext uri="{FF2B5EF4-FFF2-40B4-BE49-F238E27FC236}">
                <a16:creationId xmlns:a16="http://schemas.microsoft.com/office/drawing/2014/main" id="{9CF1D273-C1D6-5717-F40A-EAC6D3C52005}"/>
              </a:ext>
            </a:extLst>
          </p:cNvPr>
          <p:cNvCxnSpPr/>
          <p:nvPr/>
        </p:nvCxnSpPr>
        <p:spPr>
          <a:xfrm flipV="1">
            <a:off x="4996347" y="3333675"/>
            <a:ext cx="0" cy="21335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tângulo 26">
            <a:extLst>
              <a:ext uri="{FF2B5EF4-FFF2-40B4-BE49-F238E27FC236}">
                <a16:creationId xmlns:a16="http://schemas.microsoft.com/office/drawing/2014/main" id="{7C7DE06D-D522-BFFF-19FE-D700F549CD44}"/>
              </a:ext>
            </a:extLst>
          </p:cNvPr>
          <p:cNvSpPr/>
          <p:nvPr/>
        </p:nvSpPr>
        <p:spPr>
          <a:xfrm>
            <a:off x="6716724" y="5305259"/>
            <a:ext cx="508473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</a:t>
            </a:r>
            <a:r>
              <a:rPr lang="pt-BR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ux</a:t>
            </a: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A5611A5C-3549-88CC-D286-9B654B8A3F4C}"/>
              </a:ext>
            </a:extLst>
          </p:cNvPr>
          <p:cNvSpPr/>
          <p:nvPr/>
        </p:nvSpPr>
        <p:spPr>
          <a:xfrm>
            <a:off x="4153707" y="3333675"/>
            <a:ext cx="841834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20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Vfiltro</a:t>
            </a:r>
            <a:endParaRPr lang="pt-BR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F8FE679D-B839-B24A-D0EF-06DC6EB9CFB1}"/>
              </a:ext>
            </a:extLst>
          </p:cNvPr>
          <p:cNvSpPr/>
          <p:nvPr/>
        </p:nvSpPr>
        <p:spPr>
          <a:xfrm>
            <a:off x="5405922" y="4638599"/>
            <a:ext cx="190500" cy="1381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Elipse 29">
            <a:extLst>
              <a:ext uri="{FF2B5EF4-FFF2-40B4-BE49-F238E27FC236}">
                <a16:creationId xmlns:a16="http://schemas.microsoft.com/office/drawing/2014/main" id="{2492343D-9DE0-AA64-57A6-0325B859C5D0}"/>
              </a:ext>
            </a:extLst>
          </p:cNvPr>
          <p:cNvSpPr/>
          <p:nvPr/>
        </p:nvSpPr>
        <p:spPr>
          <a:xfrm>
            <a:off x="5761286" y="4181355"/>
            <a:ext cx="190500" cy="1381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Elipse 30">
            <a:extLst>
              <a:ext uri="{FF2B5EF4-FFF2-40B4-BE49-F238E27FC236}">
                <a16:creationId xmlns:a16="http://schemas.microsoft.com/office/drawing/2014/main" id="{5B2C9BD7-0A92-BAC1-CA1D-1BBF4DCB4860}"/>
              </a:ext>
            </a:extLst>
          </p:cNvPr>
          <p:cNvSpPr/>
          <p:nvPr/>
        </p:nvSpPr>
        <p:spPr>
          <a:xfrm>
            <a:off x="6177447" y="4886189"/>
            <a:ext cx="190500" cy="1381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Elipse 31">
            <a:extLst>
              <a:ext uri="{FF2B5EF4-FFF2-40B4-BE49-F238E27FC236}">
                <a16:creationId xmlns:a16="http://schemas.microsoft.com/office/drawing/2014/main" id="{8DCD7FF8-E8D0-7CF6-0103-ED067A4C7BDE}"/>
              </a:ext>
            </a:extLst>
          </p:cNvPr>
          <p:cNvSpPr/>
          <p:nvPr/>
        </p:nvSpPr>
        <p:spPr>
          <a:xfrm>
            <a:off x="6526224" y="3881303"/>
            <a:ext cx="190500" cy="1381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B586DCE6-9505-95BB-E8C2-F33594DA5446}"/>
              </a:ext>
            </a:extLst>
          </p:cNvPr>
          <p:cNvSpPr/>
          <p:nvPr/>
        </p:nvSpPr>
        <p:spPr>
          <a:xfrm>
            <a:off x="5105885" y="4995697"/>
            <a:ext cx="190500" cy="1381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3" name="Conector de Seta Reta 42">
            <a:extLst>
              <a:ext uri="{FF2B5EF4-FFF2-40B4-BE49-F238E27FC236}">
                <a16:creationId xmlns:a16="http://schemas.microsoft.com/office/drawing/2014/main" id="{70E65C27-6196-A097-F1EB-166BC00DB862}"/>
              </a:ext>
            </a:extLst>
          </p:cNvPr>
          <p:cNvCxnSpPr>
            <a:cxnSpLocks/>
          </p:cNvCxnSpPr>
          <p:nvPr/>
        </p:nvCxnSpPr>
        <p:spPr>
          <a:xfrm>
            <a:off x="8099448" y="5246746"/>
            <a:ext cx="23431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ector de Seta Reta 43">
            <a:extLst>
              <a:ext uri="{FF2B5EF4-FFF2-40B4-BE49-F238E27FC236}">
                <a16:creationId xmlns:a16="http://schemas.microsoft.com/office/drawing/2014/main" id="{78F56A0E-53A0-D0D5-EEF4-435B2EAC65E1}"/>
              </a:ext>
            </a:extLst>
          </p:cNvPr>
          <p:cNvCxnSpPr/>
          <p:nvPr/>
        </p:nvCxnSpPr>
        <p:spPr>
          <a:xfrm flipV="1">
            <a:off x="8213748" y="3294122"/>
            <a:ext cx="0" cy="21335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tângulo 44">
            <a:extLst>
              <a:ext uri="{FF2B5EF4-FFF2-40B4-BE49-F238E27FC236}">
                <a16:creationId xmlns:a16="http://schemas.microsoft.com/office/drawing/2014/main" id="{A7EA1176-C651-1873-3E14-2BD7525AF795}"/>
              </a:ext>
            </a:extLst>
          </p:cNvPr>
          <p:cNvSpPr/>
          <p:nvPr/>
        </p:nvSpPr>
        <p:spPr>
          <a:xfrm>
            <a:off x="9934125" y="5265706"/>
            <a:ext cx="508473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</a:t>
            </a:r>
            <a:r>
              <a:rPr lang="pt-BR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ux</a:t>
            </a:r>
          </a:p>
        </p:txBody>
      </p:sp>
      <p:sp>
        <p:nvSpPr>
          <p:cNvPr id="46" name="Retângulo 45">
            <a:extLst>
              <a:ext uri="{FF2B5EF4-FFF2-40B4-BE49-F238E27FC236}">
                <a16:creationId xmlns:a16="http://schemas.microsoft.com/office/drawing/2014/main" id="{B13D42B8-AEF2-F445-C2B0-7324CBF1AB20}"/>
              </a:ext>
            </a:extLst>
          </p:cNvPr>
          <p:cNvSpPr/>
          <p:nvPr/>
        </p:nvSpPr>
        <p:spPr>
          <a:xfrm>
            <a:off x="7424744" y="3294122"/>
            <a:ext cx="734561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20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Vpga</a:t>
            </a:r>
            <a:endParaRPr lang="pt-BR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7" name="Elipse 46">
            <a:extLst>
              <a:ext uri="{FF2B5EF4-FFF2-40B4-BE49-F238E27FC236}">
                <a16:creationId xmlns:a16="http://schemas.microsoft.com/office/drawing/2014/main" id="{DC4FF0AF-5182-BD81-0DC2-EE70CE53E8C4}"/>
              </a:ext>
            </a:extLst>
          </p:cNvPr>
          <p:cNvSpPr/>
          <p:nvPr/>
        </p:nvSpPr>
        <p:spPr>
          <a:xfrm>
            <a:off x="8623323" y="4599046"/>
            <a:ext cx="190500" cy="1381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8" name="Elipse 47">
            <a:extLst>
              <a:ext uri="{FF2B5EF4-FFF2-40B4-BE49-F238E27FC236}">
                <a16:creationId xmlns:a16="http://schemas.microsoft.com/office/drawing/2014/main" id="{6EA58B33-0DE2-6353-C5E5-385A772F9D98}"/>
              </a:ext>
            </a:extLst>
          </p:cNvPr>
          <p:cNvSpPr/>
          <p:nvPr/>
        </p:nvSpPr>
        <p:spPr>
          <a:xfrm>
            <a:off x="8978687" y="4141802"/>
            <a:ext cx="190500" cy="1381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9" name="Elipse 48">
            <a:extLst>
              <a:ext uri="{FF2B5EF4-FFF2-40B4-BE49-F238E27FC236}">
                <a16:creationId xmlns:a16="http://schemas.microsoft.com/office/drawing/2014/main" id="{609B45A3-2517-6737-4D25-0931CCFF4D22}"/>
              </a:ext>
            </a:extLst>
          </p:cNvPr>
          <p:cNvSpPr/>
          <p:nvPr/>
        </p:nvSpPr>
        <p:spPr>
          <a:xfrm>
            <a:off x="9394848" y="4846636"/>
            <a:ext cx="190500" cy="1381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0" name="Elipse 49">
            <a:extLst>
              <a:ext uri="{FF2B5EF4-FFF2-40B4-BE49-F238E27FC236}">
                <a16:creationId xmlns:a16="http://schemas.microsoft.com/office/drawing/2014/main" id="{F1983746-9996-4CFA-49AF-8DBDDC9EAE1B}"/>
              </a:ext>
            </a:extLst>
          </p:cNvPr>
          <p:cNvSpPr/>
          <p:nvPr/>
        </p:nvSpPr>
        <p:spPr>
          <a:xfrm>
            <a:off x="9743625" y="3841750"/>
            <a:ext cx="190500" cy="1381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1" name="Elipse 50">
            <a:extLst>
              <a:ext uri="{FF2B5EF4-FFF2-40B4-BE49-F238E27FC236}">
                <a16:creationId xmlns:a16="http://schemas.microsoft.com/office/drawing/2014/main" id="{40660F6E-1A7F-FBC9-6E42-C6C6ACB4AA0B}"/>
              </a:ext>
            </a:extLst>
          </p:cNvPr>
          <p:cNvSpPr/>
          <p:nvPr/>
        </p:nvSpPr>
        <p:spPr>
          <a:xfrm>
            <a:off x="8323286" y="4956144"/>
            <a:ext cx="190500" cy="1381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48569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4A623-7F23-F08D-3910-529E1588C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B24E9C-C5AB-41BF-865E-24A1B42FA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Resultados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6BD7584-3F7E-F7D2-0B34-E3CE9FEB2C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1776"/>
            <a:ext cx="10610850" cy="2184400"/>
          </a:xfrm>
        </p:spPr>
        <p:txBody>
          <a:bodyPr/>
          <a:lstStyle/>
          <a:p>
            <a:pPr marL="0" indent="0">
              <a:buNone/>
            </a:pPr>
            <a:r>
              <a:rPr lang="pt-BR" dirty="0"/>
              <a:t>4- Tensão no TIA, filtro, PGA em posições do ambiente (5 pontos) </a:t>
            </a:r>
          </a:p>
          <a:p>
            <a:r>
              <a:rPr lang="pt-BR" b="1" dirty="0">
                <a:solidFill>
                  <a:srgbClr val="FF0000"/>
                </a:solidFill>
              </a:rPr>
              <a:t>Transmissor VLC ligado em 1 kHz e luminária 4 kHz (ruído)</a:t>
            </a:r>
          </a:p>
          <a:p>
            <a:r>
              <a:rPr lang="pt-BR" dirty="0"/>
              <a:t>Configurar o PGA para o máximo ganho sem saturação</a:t>
            </a:r>
          </a:p>
          <a:p>
            <a:pPr marL="0" indent="0">
              <a:buNone/>
            </a:pPr>
            <a:endParaRPr lang="pt-BR" dirty="0"/>
          </a:p>
        </p:txBody>
      </p:sp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FC786DC2-0C54-7370-A1A8-655A45CB060C}"/>
              </a:ext>
            </a:extLst>
          </p:cNvPr>
          <p:cNvCxnSpPr>
            <a:cxnSpLocks/>
          </p:cNvCxnSpPr>
          <p:nvPr/>
        </p:nvCxnSpPr>
        <p:spPr>
          <a:xfrm>
            <a:off x="1600200" y="5356224"/>
            <a:ext cx="23431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94469077-4200-B57E-0D3E-455F1588398A}"/>
              </a:ext>
            </a:extLst>
          </p:cNvPr>
          <p:cNvCxnSpPr/>
          <p:nvPr/>
        </p:nvCxnSpPr>
        <p:spPr>
          <a:xfrm flipV="1">
            <a:off x="1714500" y="3403600"/>
            <a:ext cx="0" cy="21335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tângulo 7">
            <a:extLst>
              <a:ext uri="{FF2B5EF4-FFF2-40B4-BE49-F238E27FC236}">
                <a16:creationId xmlns:a16="http://schemas.microsoft.com/office/drawing/2014/main" id="{01DA698F-19C0-3A8D-B9FA-7FFCA08F04DE}"/>
              </a:ext>
            </a:extLst>
          </p:cNvPr>
          <p:cNvSpPr/>
          <p:nvPr/>
        </p:nvSpPr>
        <p:spPr>
          <a:xfrm>
            <a:off x="3434877" y="5375184"/>
            <a:ext cx="508473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</a:t>
            </a:r>
            <a:r>
              <a:rPr lang="pt-BR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ux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5679E13D-3235-E422-4FC7-4F1C4E4CCE9F}"/>
              </a:ext>
            </a:extLst>
          </p:cNvPr>
          <p:cNvSpPr/>
          <p:nvPr/>
        </p:nvSpPr>
        <p:spPr>
          <a:xfrm>
            <a:off x="985352" y="3403600"/>
            <a:ext cx="614848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20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Vtia</a:t>
            </a:r>
            <a:endParaRPr lang="pt-BR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39424A39-7EE0-78CD-428F-DDC9D4C4A3DE}"/>
              </a:ext>
            </a:extLst>
          </p:cNvPr>
          <p:cNvSpPr/>
          <p:nvPr/>
        </p:nvSpPr>
        <p:spPr>
          <a:xfrm>
            <a:off x="2124075" y="4708524"/>
            <a:ext cx="190500" cy="1381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D6CF3EF2-D5A4-6F99-387C-0EFF9487BA05}"/>
              </a:ext>
            </a:extLst>
          </p:cNvPr>
          <p:cNvSpPr/>
          <p:nvPr/>
        </p:nvSpPr>
        <p:spPr>
          <a:xfrm>
            <a:off x="2479439" y="4251280"/>
            <a:ext cx="190500" cy="1381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02F27C6C-D459-185A-E82C-F63E3EBAC4DA}"/>
              </a:ext>
            </a:extLst>
          </p:cNvPr>
          <p:cNvSpPr/>
          <p:nvPr/>
        </p:nvSpPr>
        <p:spPr>
          <a:xfrm>
            <a:off x="2895600" y="4956114"/>
            <a:ext cx="190500" cy="1381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20E187D7-B7CC-A147-D4ED-42FEBD34DF3E}"/>
              </a:ext>
            </a:extLst>
          </p:cNvPr>
          <p:cNvSpPr/>
          <p:nvPr/>
        </p:nvSpPr>
        <p:spPr>
          <a:xfrm>
            <a:off x="3244377" y="3951228"/>
            <a:ext cx="190500" cy="1381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4FA87BD8-AB20-FE31-74BF-66778C9E5069}"/>
              </a:ext>
            </a:extLst>
          </p:cNvPr>
          <p:cNvSpPr/>
          <p:nvPr/>
        </p:nvSpPr>
        <p:spPr>
          <a:xfrm>
            <a:off x="1824038" y="5065622"/>
            <a:ext cx="190500" cy="1381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5" name="Conector de Seta Reta 24">
            <a:extLst>
              <a:ext uri="{FF2B5EF4-FFF2-40B4-BE49-F238E27FC236}">
                <a16:creationId xmlns:a16="http://schemas.microsoft.com/office/drawing/2014/main" id="{C29E7FD3-F37D-8C7B-3214-3D38847FBC2E}"/>
              </a:ext>
            </a:extLst>
          </p:cNvPr>
          <p:cNvCxnSpPr>
            <a:cxnSpLocks/>
          </p:cNvCxnSpPr>
          <p:nvPr/>
        </p:nvCxnSpPr>
        <p:spPr>
          <a:xfrm>
            <a:off x="4882047" y="5286299"/>
            <a:ext cx="23431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ector de Seta Reta 25">
            <a:extLst>
              <a:ext uri="{FF2B5EF4-FFF2-40B4-BE49-F238E27FC236}">
                <a16:creationId xmlns:a16="http://schemas.microsoft.com/office/drawing/2014/main" id="{796BBBBB-D1FB-3E40-FBDD-D77B39B82B89}"/>
              </a:ext>
            </a:extLst>
          </p:cNvPr>
          <p:cNvCxnSpPr/>
          <p:nvPr/>
        </p:nvCxnSpPr>
        <p:spPr>
          <a:xfrm flipV="1">
            <a:off x="4996347" y="3333675"/>
            <a:ext cx="0" cy="21335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tângulo 26">
            <a:extLst>
              <a:ext uri="{FF2B5EF4-FFF2-40B4-BE49-F238E27FC236}">
                <a16:creationId xmlns:a16="http://schemas.microsoft.com/office/drawing/2014/main" id="{07F33D7D-8C34-3658-6F2D-CCC9918ECD4D}"/>
              </a:ext>
            </a:extLst>
          </p:cNvPr>
          <p:cNvSpPr/>
          <p:nvPr/>
        </p:nvSpPr>
        <p:spPr>
          <a:xfrm>
            <a:off x="6716724" y="5305259"/>
            <a:ext cx="508473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</a:t>
            </a:r>
            <a:r>
              <a:rPr lang="pt-BR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ux</a:t>
            </a: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10F95819-28C3-F9D9-E479-C8F08A43774B}"/>
              </a:ext>
            </a:extLst>
          </p:cNvPr>
          <p:cNvSpPr/>
          <p:nvPr/>
        </p:nvSpPr>
        <p:spPr>
          <a:xfrm>
            <a:off x="4153707" y="3333675"/>
            <a:ext cx="841834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20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Vfiltro</a:t>
            </a:r>
            <a:endParaRPr lang="pt-BR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EDAA655E-F31D-111C-8EA6-47B4DD078E95}"/>
              </a:ext>
            </a:extLst>
          </p:cNvPr>
          <p:cNvSpPr/>
          <p:nvPr/>
        </p:nvSpPr>
        <p:spPr>
          <a:xfrm>
            <a:off x="5405922" y="4638599"/>
            <a:ext cx="190500" cy="1381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Elipse 29">
            <a:extLst>
              <a:ext uri="{FF2B5EF4-FFF2-40B4-BE49-F238E27FC236}">
                <a16:creationId xmlns:a16="http://schemas.microsoft.com/office/drawing/2014/main" id="{813EABBA-2C5E-DCE8-0934-DC20CB890891}"/>
              </a:ext>
            </a:extLst>
          </p:cNvPr>
          <p:cNvSpPr/>
          <p:nvPr/>
        </p:nvSpPr>
        <p:spPr>
          <a:xfrm>
            <a:off x="5761286" y="4181355"/>
            <a:ext cx="190500" cy="1381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Elipse 30">
            <a:extLst>
              <a:ext uri="{FF2B5EF4-FFF2-40B4-BE49-F238E27FC236}">
                <a16:creationId xmlns:a16="http://schemas.microsoft.com/office/drawing/2014/main" id="{F8C8D908-E984-989A-1446-690101640D6D}"/>
              </a:ext>
            </a:extLst>
          </p:cNvPr>
          <p:cNvSpPr/>
          <p:nvPr/>
        </p:nvSpPr>
        <p:spPr>
          <a:xfrm>
            <a:off x="6177447" y="4886189"/>
            <a:ext cx="190500" cy="1381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Elipse 31">
            <a:extLst>
              <a:ext uri="{FF2B5EF4-FFF2-40B4-BE49-F238E27FC236}">
                <a16:creationId xmlns:a16="http://schemas.microsoft.com/office/drawing/2014/main" id="{68572FA5-A214-001B-BD4A-8AAD0B0F4A0A}"/>
              </a:ext>
            </a:extLst>
          </p:cNvPr>
          <p:cNvSpPr/>
          <p:nvPr/>
        </p:nvSpPr>
        <p:spPr>
          <a:xfrm>
            <a:off x="6526224" y="3881303"/>
            <a:ext cx="190500" cy="1381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67AB661A-9B4C-A4AE-FD5C-7674371BB5D2}"/>
              </a:ext>
            </a:extLst>
          </p:cNvPr>
          <p:cNvSpPr/>
          <p:nvPr/>
        </p:nvSpPr>
        <p:spPr>
          <a:xfrm>
            <a:off x="5105885" y="4995697"/>
            <a:ext cx="190500" cy="1381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3" name="Conector de Seta Reta 42">
            <a:extLst>
              <a:ext uri="{FF2B5EF4-FFF2-40B4-BE49-F238E27FC236}">
                <a16:creationId xmlns:a16="http://schemas.microsoft.com/office/drawing/2014/main" id="{87413EC1-26C7-4256-F992-B948EDC3FF56}"/>
              </a:ext>
            </a:extLst>
          </p:cNvPr>
          <p:cNvCxnSpPr>
            <a:cxnSpLocks/>
          </p:cNvCxnSpPr>
          <p:nvPr/>
        </p:nvCxnSpPr>
        <p:spPr>
          <a:xfrm>
            <a:off x="8099448" y="5246746"/>
            <a:ext cx="23431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ector de Seta Reta 43">
            <a:extLst>
              <a:ext uri="{FF2B5EF4-FFF2-40B4-BE49-F238E27FC236}">
                <a16:creationId xmlns:a16="http://schemas.microsoft.com/office/drawing/2014/main" id="{63896768-F497-86BB-CFD1-FC1A9BD1A59C}"/>
              </a:ext>
            </a:extLst>
          </p:cNvPr>
          <p:cNvCxnSpPr/>
          <p:nvPr/>
        </p:nvCxnSpPr>
        <p:spPr>
          <a:xfrm flipV="1">
            <a:off x="8213748" y="3294122"/>
            <a:ext cx="0" cy="21335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tângulo 44">
            <a:extLst>
              <a:ext uri="{FF2B5EF4-FFF2-40B4-BE49-F238E27FC236}">
                <a16:creationId xmlns:a16="http://schemas.microsoft.com/office/drawing/2014/main" id="{C90DD529-EA81-BA35-CBCE-E656CF58300E}"/>
              </a:ext>
            </a:extLst>
          </p:cNvPr>
          <p:cNvSpPr/>
          <p:nvPr/>
        </p:nvSpPr>
        <p:spPr>
          <a:xfrm>
            <a:off x="9934125" y="5265706"/>
            <a:ext cx="508473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</a:t>
            </a:r>
            <a:r>
              <a:rPr lang="pt-BR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ux</a:t>
            </a:r>
          </a:p>
        </p:txBody>
      </p:sp>
      <p:sp>
        <p:nvSpPr>
          <p:cNvPr id="46" name="Retângulo 45">
            <a:extLst>
              <a:ext uri="{FF2B5EF4-FFF2-40B4-BE49-F238E27FC236}">
                <a16:creationId xmlns:a16="http://schemas.microsoft.com/office/drawing/2014/main" id="{F16555B1-E7C8-FED6-82BE-7E6DCC28CF3B}"/>
              </a:ext>
            </a:extLst>
          </p:cNvPr>
          <p:cNvSpPr/>
          <p:nvPr/>
        </p:nvSpPr>
        <p:spPr>
          <a:xfrm>
            <a:off x="7424744" y="3294122"/>
            <a:ext cx="734561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20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Vpga</a:t>
            </a:r>
            <a:endParaRPr lang="pt-BR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7" name="Elipse 46">
            <a:extLst>
              <a:ext uri="{FF2B5EF4-FFF2-40B4-BE49-F238E27FC236}">
                <a16:creationId xmlns:a16="http://schemas.microsoft.com/office/drawing/2014/main" id="{30143546-7B61-25C6-896C-F84CFEACC2F7}"/>
              </a:ext>
            </a:extLst>
          </p:cNvPr>
          <p:cNvSpPr/>
          <p:nvPr/>
        </p:nvSpPr>
        <p:spPr>
          <a:xfrm>
            <a:off x="8623323" y="4599046"/>
            <a:ext cx="190500" cy="1381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8" name="Elipse 47">
            <a:extLst>
              <a:ext uri="{FF2B5EF4-FFF2-40B4-BE49-F238E27FC236}">
                <a16:creationId xmlns:a16="http://schemas.microsoft.com/office/drawing/2014/main" id="{5BA56ECC-FEC8-180C-A8A4-0648F950C1BA}"/>
              </a:ext>
            </a:extLst>
          </p:cNvPr>
          <p:cNvSpPr/>
          <p:nvPr/>
        </p:nvSpPr>
        <p:spPr>
          <a:xfrm>
            <a:off x="8978687" y="4141802"/>
            <a:ext cx="190500" cy="1381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9" name="Elipse 48">
            <a:extLst>
              <a:ext uri="{FF2B5EF4-FFF2-40B4-BE49-F238E27FC236}">
                <a16:creationId xmlns:a16="http://schemas.microsoft.com/office/drawing/2014/main" id="{DD0121AA-56E0-86BD-284D-52877C03AF21}"/>
              </a:ext>
            </a:extLst>
          </p:cNvPr>
          <p:cNvSpPr/>
          <p:nvPr/>
        </p:nvSpPr>
        <p:spPr>
          <a:xfrm>
            <a:off x="9394848" y="4846636"/>
            <a:ext cx="190500" cy="1381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0" name="Elipse 49">
            <a:extLst>
              <a:ext uri="{FF2B5EF4-FFF2-40B4-BE49-F238E27FC236}">
                <a16:creationId xmlns:a16="http://schemas.microsoft.com/office/drawing/2014/main" id="{7EBD73E1-0C87-4378-EEF9-A839200C0BBE}"/>
              </a:ext>
            </a:extLst>
          </p:cNvPr>
          <p:cNvSpPr/>
          <p:nvPr/>
        </p:nvSpPr>
        <p:spPr>
          <a:xfrm>
            <a:off x="9743625" y="3841750"/>
            <a:ext cx="190500" cy="1381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1" name="Elipse 50">
            <a:extLst>
              <a:ext uri="{FF2B5EF4-FFF2-40B4-BE49-F238E27FC236}">
                <a16:creationId xmlns:a16="http://schemas.microsoft.com/office/drawing/2014/main" id="{D699D40E-6FD1-234E-A3C1-5F4DEAAF7C5D}"/>
              </a:ext>
            </a:extLst>
          </p:cNvPr>
          <p:cNvSpPr/>
          <p:nvPr/>
        </p:nvSpPr>
        <p:spPr>
          <a:xfrm>
            <a:off x="8323286" y="4956144"/>
            <a:ext cx="190500" cy="1381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56632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3EBEC-7CC9-5DD4-62E1-59E7875F6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F37E2F-2E78-8A86-E14A-9421D9E18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Resultados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20A2968-2F9B-272F-1205-BA9A5EAA7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1776"/>
            <a:ext cx="10610850" cy="2184400"/>
          </a:xfrm>
        </p:spPr>
        <p:txBody>
          <a:bodyPr/>
          <a:lstStyle/>
          <a:p>
            <a:pPr marL="0" indent="0">
              <a:buNone/>
            </a:pPr>
            <a:r>
              <a:rPr lang="pt-BR" dirty="0"/>
              <a:t>5- Tensão no TIA, filtro, PGA em posições do ambiente (5 pontos) </a:t>
            </a:r>
          </a:p>
          <a:p>
            <a:r>
              <a:rPr lang="pt-BR" b="1" dirty="0">
                <a:solidFill>
                  <a:srgbClr val="FF0000"/>
                </a:solidFill>
              </a:rPr>
              <a:t>uma lâmpada de 4kHz de ruído ligado</a:t>
            </a:r>
          </a:p>
          <a:p>
            <a:r>
              <a:rPr lang="pt-BR" dirty="0"/>
              <a:t>Configurar o PGA para o máximo ganho sem saturação</a:t>
            </a:r>
          </a:p>
          <a:p>
            <a:pPr marL="0" indent="0">
              <a:buNone/>
            </a:pPr>
            <a:endParaRPr lang="pt-BR" dirty="0"/>
          </a:p>
        </p:txBody>
      </p:sp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C667F177-855E-0070-336D-C1116333E167}"/>
              </a:ext>
            </a:extLst>
          </p:cNvPr>
          <p:cNvCxnSpPr>
            <a:cxnSpLocks/>
          </p:cNvCxnSpPr>
          <p:nvPr/>
        </p:nvCxnSpPr>
        <p:spPr>
          <a:xfrm>
            <a:off x="1600200" y="5356224"/>
            <a:ext cx="23431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B5FA8FD7-DC93-39A5-D0A5-D4CDA40DF221}"/>
              </a:ext>
            </a:extLst>
          </p:cNvPr>
          <p:cNvCxnSpPr/>
          <p:nvPr/>
        </p:nvCxnSpPr>
        <p:spPr>
          <a:xfrm flipV="1">
            <a:off x="1714500" y="3403600"/>
            <a:ext cx="0" cy="21335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tângulo 7">
            <a:extLst>
              <a:ext uri="{FF2B5EF4-FFF2-40B4-BE49-F238E27FC236}">
                <a16:creationId xmlns:a16="http://schemas.microsoft.com/office/drawing/2014/main" id="{03DAF697-4DAF-762B-1D61-14CC8FF4678A}"/>
              </a:ext>
            </a:extLst>
          </p:cNvPr>
          <p:cNvSpPr/>
          <p:nvPr/>
        </p:nvSpPr>
        <p:spPr>
          <a:xfrm>
            <a:off x="3434877" y="5375184"/>
            <a:ext cx="508473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</a:t>
            </a:r>
            <a:r>
              <a:rPr lang="pt-BR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ux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D0D1B301-2183-8E64-5BFC-EA645161EE84}"/>
              </a:ext>
            </a:extLst>
          </p:cNvPr>
          <p:cNvSpPr/>
          <p:nvPr/>
        </p:nvSpPr>
        <p:spPr>
          <a:xfrm>
            <a:off x="985352" y="3403600"/>
            <a:ext cx="614848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20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Vtia</a:t>
            </a:r>
            <a:endParaRPr lang="pt-BR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295F488C-65B0-1402-F69C-8997998446DA}"/>
              </a:ext>
            </a:extLst>
          </p:cNvPr>
          <p:cNvSpPr/>
          <p:nvPr/>
        </p:nvSpPr>
        <p:spPr>
          <a:xfrm>
            <a:off x="2124075" y="4708524"/>
            <a:ext cx="190500" cy="1381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5C123B1C-DFF9-4333-F48F-B49EB4F1B3D7}"/>
              </a:ext>
            </a:extLst>
          </p:cNvPr>
          <p:cNvSpPr/>
          <p:nvPr/>
        </p:nvSpPr>
        <p:spPr>
          <a:xfrm>
            <a:off x="2479439" y="4251280"/>
            <a:ext cx="190500" cy="1381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33A97871-BC8B-06F8-F71C-EC430760D2D3}"/>
              </a:ext>
            </a:extLst>
          </p:cNvPr>
          <p:cNvSpPr/>
          <p:nvPr/>
        </p:nvSpPr>
        <p:spPr>
          <a:xfrm>
            <a:off x="2895600" y="4956114"/>
            <a:ext cx="190500" cy="1381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2F7EC641-A8E6-1736-9B11-E35CF94ED5FA}"/>
              </a:ext>
            </a:extLst>
          </p:cNvPr>
          <p:cNvSpPr/>
          <p:nvPr/>
        </p:nvSpPr>
        <p:spPr>
          <a:xfrm>
            <a:off x="3244377" y="3951228"/>
            <a:ext cx="190500" cy="1381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2956D66C-8067-EBD4-EF67-A20157C724C5}"/>
              </a:ext>
            </a:extLst>
          </p:cNvPr>
          <p:cNvSpPr/>
          <p:nvPr/>
        </p:nvSpPr>
        <p:spPr>
          <a:xfrm>
            <a:off x="1824038" y="5065622"/>
            <a:ext cx="190500" cy="1381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5" name="Conector de Seta Reta 24">
            <a:extLst>
              <a:ext uri="{FF2B5EF4-FFF2-40B4-BE49-F238E27FC236}">
                <a16:creationId xmlns:a16="http://schemas.microsoft.com/office/drawing/2014/main" id="{2D25FD64-045C-358D-64F0-A5D2C8211392}"/>
              </a:ext>
            </a:extLst>
          </p:cNvPr>
          <p:cNvCxnSpPr>
            <a:cxnSpLocks/>
          </p:cNvCxnSpPr>
          <p:nvPr/>
        </p:nvCxnSpPr>
        <p:spPr>
          <a:xfrm>
            <a:off x="4882047" y="5286299"/>
            <a:ext cx="23431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ector de Seta Reta 25">
            <a:extLst>
              <a:ext uri="{FF2B5EF4-FFF2-40B4-BE49-F238E27FC236}">
                <a16:creationId xmlns:a16="http://schemas.microsoft.com/office/drawing/2014/main" id="{9AC83045-EFFB-6166-94B0-47FDC2AA3A4A}"/>
              </a:ext>
            </a:extLst>
          </p:cNvPr>
          <p:cNvCxnSpPr/>
          <p:nvPr/>
        </p:nvCxnSpPr>
        <p:spPr>
          <a:xfrm flipV="1">
            <a:off x="4996347" y="3333675"/>
            <a:ext cx="0" cy="21335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tângulo 26">
            <a:extLst>
              <a:ext uri="{FF2B5EF4-FFF2-40B4-BE49-F238E27FC236}">
                <a16:creationId xmlns:a16="http://schemas.microsoft.com/office/drawing/2014/main" id="{0DA016B7-02CB-C90E-9CF0-334F49170142}"/>
              </a:ext>
            </a:extLst>
          </p:cNvPr>
          <p:cNvSpPr/>
          <p:nvPr/>
        </p:nvSpPr>
        <p:spPr>
          <a:xfrm>
            <a:off x="6716724" y="5305259"/>
            <a:ext cx="508473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</a:t>
            </a:r>
            <a:r>
              <a:rPr lang="pt-BR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ux</a:t>
            </a: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28155196-FB23-EA7D-5A75-700E4B24D516}"/>
              </a:ext>
            </a:extLst>
          </p:cNvPr>
          <p:cNvSpPr/>
          <p:nvPr/>
        </p:nvSpPr>
        <p:spPr>
          <a:xfrm>
            <a:off x="4153707" y="3333675"/>
            <a:ext cx="841834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20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Vfiltro</a:t>
            </a:r>
            <a:endParaRPr lang="pt-BR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3D88594E-3CDB-C275-3AD3-5C57C9B7B388}"/>
              </a:ext>
            </a:extLst>
          </p:cNvPr>
          <p:cNvSpPr/>
          <p:nvPr/>
        </p:nvSpPr>
        <p:spPr>
          <a:xfrm>
            <a:off x="5405922" y="4638599"/>
            <a:ext cx="190500" cy="1381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Elipse 29">
            <a:extLst>
              <a:ext uri="{FF2B5EF4-FFF2-40B4-BE49-F238E27FC236}">
                <a16:creationId xmlns:a16="http://schemas.microsoft.com/office/drawing/2014/main" id="{504751FC-3C41-3CA0-45AA-69E74901365E}"/>
              </a:ext>
            </a:extLst>
          </p:cNvPr>
          <p:cNvSpPr/>
          <p:nvPr/>
        </p:nvSpPr>
        <p:spPr>
          <a:xfrm>
            <a:off x="5761286" y="4181355"/>
            <a:ext cx="190500" cy="1381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Elipse 30">
            <a:extLst>
              <a:ext uri="{FF2B5EF4-FFF2-40B4-BE49-F238E27FC236}">
                <a16:creationId xmlns:a16="http://schemas.microsoft.com/office/drawing/2014/main" id="{F9117BAA-BAA0-721A-DA07-C8953039FF2C}"/>
              </a:ext>
            </a:extLst>
          </p:cNvPr>
          <p:cNvSpPr/>
          <p:nvPr/>
        </p:nvSpPr>
        <p:spPr>
          <a:xfrm>
            <a:off x="6177447" y="4886189"/>
            <a:ext cx="190500" cy="1381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Elipse 31">
            <a:extLst>
              <a:ext uri="{FF2B5EF4-FFF2-40B4-BE49-F238E27FC236}">
                <a16:creationId xmlns:a16="http://schemas.microsoft.com/office/drawing/2014/main" id="{89D8D3C6-E0F4-1810-A11F-CBE4DB7145B1}"/>
              </a:ext>
            </a:extLst>
          </p:cNvPr>
          <p:cNvSpPr/>
          <p:nvPr/>
        </p:nvSpPr>
        <p:spPr>
          <a:xfrm>
            <a:off x="6526224" y="3881303"/>
            <a:ext cx="190500" cy="1381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1434BEF2-17B6-B273-5222-CD41CD3951DC}"/>
              </a:ext>
            </a:extLst>
          </p:cNvPr>
          <p:cNvSpPr/>
          <p:nvPr/>
        </p:nvSpPr>
        <p:spPr>
          <a:xfrm>
            <a:off x="5105885" y="4995697"/>
            <a:ext cx="190500" cy="1381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3" name="Conector de Seta Reta 42">
            <a:extLst>
              <a:ext uri="{FF2B5EF4-FFF2-40B4-BE49-F238E27FC236}">
                <a16:creationId xmlns:a16="http://schemas.microsoft.com/office/drawing/2014/main" id="{6FB5E35C-0876-C571-91B0-11B4D9F2C72B}"/>
              </a:ext>
            </a:extLst>
          </p:cNvPr>
          <p:cNvCxnSpPr>
            <a:cxnSpLocks/>
          </p:cNvCxnSpPr>
          <p:nvPr/>
        </p:nvCxnSpPr>
        <p:spPr>
          <a:xfrm>
            <a:off x="8099448" y="5246746"/>
            <a:ext cx="23431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ector de Seta Reta 43">
            <a:extLst>
              <a:ext uri="{FF2B5EF4-FFF2-40B4-BE49-F238E27FC236}">
                <a16:creationId xmlns:a16="http://schemas.microsoft.com/office/drawing/2014/main" id="{8444C38C-0D34-37F7-6E12-9B476A5687DE}"/>
              </a:ext>
            </a:extLst>
          </p:cNvPr>
          <p:cNvCxnSpPr/>
          <p:nvPr/>
        </p:nvCxnSpPr>
        <p:spPr>
          <a:xfrm flipV="1">
            <a:off x="8213748" y="3294122"/>
            <a:ext cx="0" cy="21335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tângulo 44">
            <a:extLst>
              <a:ext uri="{FF2B5EF4-FFF2-40B4-BE49-F238E27FC236}">
                <a16:creationId xmlns:a16="http://schemas.microsoft.com/office/drawing/2014/main" id="{B0059D4C-5B22-4EEC-BCB7-FFC738B23ACE}"/>
              </a:ext>
            </a:extLst>
          </p:cNvPr>
          <p:cNvSpPr/>
          <p:nvPr/>
        </p:nvSpPr>
        <p:spPr>
          <a:xfrm>
            <a:off x="9934125" y="5265706"/>
            <a:ext cx="508473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</a:t>
            </a:r>
            <a:r>
              <a:rPr lang="pt-BR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ux</a:t>
            </a:r>
          </a:p>
        </p:txBody>
      </p:sp>
      <p:sp>
        <p:nvSpPr>
          <p:cNvPr id="46" name="Retângulo 45">
            <a:extLst>
              <a:ext uri="{FF2B5EF4-FFF2-40B4-BE49-F238E27FC236}">
                <a16:creationId xmlns:a16="http://schemas.microsoft.com/office/drawing/2014/main" id="{A3BF3393-9120-70E2-A582-BB46EE42DF75}"/>
              </a:ext>
            </a:extLst>
          </p:cNvPr>
          <p:cNvSpPr/>
          <p:nvPr/>
        </p:nvSpPr>
        <p:spPr>
          <a:xfrm>
            <a:off x="7424744" y="3294122"/>
            <a:ext cx="734561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20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Vpga</a:t>
            </a:r>
            <a:endParaRPr lang="pt-BR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7" name="Elipse 46">
            <a:extLst>
              <a:ext uri="{FF2B5EF4-FFF2-40B4-BE49-F238E27FC236}">
                <a16:creationId xmlns:a16="http://schemas.microsoft.com/office/drawing/2014/main" id="{734CE04A-B7C0-DCA6-573A-20C78B347B22}"/>
              </a:ext>
            </a:extLst>
          </p:cNvPr>
          <p:cNvSpPr/>
          <p:nvPr/>
        </p:nvSpPr>
        <p:spPr>
          <a:xfrm>
            <a:off x="8623323" y="4599046"/>
            <a:ext cx="190500" cy="1381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8" name="Elipse 47">
            <a:extLst>
              <a:ext uri="{FF2B5EF4-FFF2-40B4-BE49-F238E27FC236}">
                <a16:creationId xmlns:a16="http://schemas.microsoft.com/office/drawing/2014/main" id="{FCF097B4-C78F-6BDA-79F0-ACEB3875B23A}"/>
              </a:ext>
            </a:extLst>
          </p:cNvPr>
          <p:cNvSpPr/>
          <p:nvPr/>
        </p:nvSpPr>
        <p:spPr>
          <a:xfrm>
            <a:off x="8978687" y="4141802"/>
            <a:ext cx="190500" cy="1381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9" name="Elipse 48">
            <a:extLst>
              <a:ext uri="{FF2B5EF4-FFF2-40B4-BE49-F238E27FC236}">
                <a16:creationId xmlns:a16="http://schemas.microsoft.com/office/drawing/2014/main" id="{8E1F793E-C54E-CD55-2343-07D1F385A066}"/>
              </a:ext>
            </a:extLst>
          </p:cNvPr>
          <p:cNvSpPr/>
          <p:nvPr/>
        </p:nvSpPr>
        <p:spPr>
          <a:xfrm>
            <a:off x="9394848" y="4846636"/>
            <a:ext cx="190500" cy="1381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0" name="Elipse 49">
            <a:extLst>
              <a:ext uri="{FF2B5EF4-FFF2-40B4-BE49-F238E27FC236}">
                <a16:creationId xmlns:a16="http://schemas.microsoft.com/office/drawing/2014/main" id="{9DE7E8A9-0953-26DA-F7B6-21A9D95B177D}"/>
              </a:ext>
            </a:extLst>
          </p:cNvPr>
          <p:cNvSpPr/>
          <p:nvPr/>
        </p:nvSpPr>
        <p:spPr>
          <a:xfrm>
            <a:off x="9743625" y="3841750"/>
            <a:ext cx="190500" cy="1381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1" name="Elipse 50">
            <a:extLst>
              <a:ext uri="{FF2B5EF4-FFF2-40B4-BE49-F238E27FC236}">
                <a16:creationId xmlns:a16="http://schemas.microsoft.com/office/drawing/2014/main" id="{6617720A-7751-8A8D-969A-730C81FBE3E1}"/>
              </a:ext>
            </a:extLst>
          </p:cNvPr>
          <p:cNvSpPr/>
          <p:nvPr/>
        </p:nvSpPr>
        <p:spPr>
          <a:xfrm>
            <a:off x="8323286" y="4956144"/>
            <a:ext cx="190500" cy="1381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17189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B69AD-8386-AEE2-C24B-2B1D03FA2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2EB4CE-834B-0C20-C51C-A2C33B72A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Resultados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9651D19-A970-C010-B57D-1F649A3540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1776"/>
            <a:ext cx="10610850" cy="2184400"/>
          </a:xfrm>
        </p:spPr>
        <p:txBody>
          <a:bodyPr/>
          <a:lstStyle/>
          <a:p>
            <a:pPr marL="0" indent="0">
              <a:buNone/>
            </a:pPr>
            <a:r>
              <a:rPr lang="pt-BR" dirty="0"/>
              <a:t>6- SNR no TIA, filtro, PGA em posições do ambiente (5 pontos) </a:t>
            </a:r>
          </a:p>
          <a:p>
            <a:r>
              <a:rPr lang="pt-BR" dirty="0"/>
              <a:t>SNR (dB) = 10 * log10 (Vsinal^2 / Vruido^2)</a:t>
            </a:r>
            <a:endParaRPr lang="pt-BR" b="1" dirty="0">
              <a:solidFill>
                <a:srgbClr val="FF0000"/>
              </a:solidFill>
            </a:endParaRPr>
          </a:p>
          <a:p>
            <a:r>
              <a:rPr lang="pt-BR" b="1" dirty="0" err="1">
                <a:solidFill>
                  <a:srgbClr val="FF0000"/>
                </a:solidFill>
              </a:rPr>
              <a:t>Vsinal</a:t>
            </a:r>
            <a:r>
              <a:rPr lang="pt-BR" b="1" dirty="0">
                <a:solidFill>
                  <a:srgbClr val="FF0000"/>
                </a:solidFill>
              </a:rPr>
              <a:t>= tensão resultados 1, </a:t>
            </a:r>
            <a:r>
              <a:rPr lang="pt-BR" b="1" dirty="0" err="1">
                <a:solidFill>
                  <a:srgbClr val="FF0000"/>
                </a:solidFill>
              </a:rPr>
              <a:t>Vruido</a:t>
            </a:r>
            <a:r>
              <a:rPr lang="pt-BR" b="1" dirty="0">
                <a:solidFill>
                  <a:srgbClr val="FF0000"/>
                </a:solidFill>
              </a:rPr>
              <a:t> = tensão resultado 2</a:t>
            </a:r>
          </a:p>
          <a:p>
            <a:pPr marL="0" indent="0">
              <a:buNone/>
            </a:pPr>
            <a:endParaRPr lang="pt-BR" dirty="0"/>
          </a:p>
        </p:txBody>
      </p:sp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1F402F66-9BE8-D911-BCC7-705100CDD2F1}"/>
              </a:ext>
            </a:extLst>
          </p:cNvPr>
          <p:cNvCxnSpPr>
            <a:cxnSpLocks/>
          </p:cNvCxnSpPr>
          <p:nvPr/>
        </p:nvCxnSpPr>
        <p:spPr>
          <a:xfrm>
            <a:off x="1600200" y="5356224"/>
            <a:ext cx="23431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2E7D8FBD-E056-E683-842E-7CF840EFED2F}"/>
              </a:ext>
            </a:extLst>
          </p:cNvPr>
          <p:cNvCxnSpPr/>
          <p:nvPr/>
        </p:nvCxnSpPr>
        <p:spPr>
          <a:xfrm flipV="1">
            <a:off x="1714500" y="3403600"/>
            <a:ext cx="0" cy="21335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tângulo 7">
            <a:extLst>
              <a:ext uri="{FF2B5EF4-FFF2-40B4-BE49-F238E27FC236}">
                <a16:creationId xmlns:a16="http://schemas.microsoft.com/office/drawing/2014/main" id="{29045CD4-E511-540E-BF41-9088DC29DBE4}"/>
              </a:ext>
            </a:extLst>
          </p:cNvPr>
          <p:cNvSpPr/>
          <p:nvPr/>
        </p:nvSpPr>
        <p:spPr>
          <a:xfrm>
            <a:off x="3434877" y="5375184"/>
            <a:ext cx="508473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</a:t>
            </a:r>
            <a:r>
              <a:rPr lang="pt-BR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ux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4A0461B9-A0BD-2081-4A3D-95C71E06BFDC}"/>
              </a:ext>
            </a:extLst>
          </p:cNvPr>
          <p:cNvSpPr/>
          <p:nvPr/>
        </p:nvSpPr>
        <p:spPr>
          <a:xfrm>
            <a:off x="819056" y="3403600"/>
            <a:ext cx="947439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20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SNRtia</a:t>
            </a:r>
            <a:endParaRPr lang="pt-BR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971F7291-AC2B-B805-6CBC-46DE9D49639E}"/>
              </a:ext>
            </a:extLst>
          </p:cNvPr>
          <p:cNvSpPr/>
          <p:nvPr/>
        </p:nvSpPr>
        <p:spPr>
          <a:xfrm>
            <a:off x="2124075" y="4708524"/>
            <a:ext cx="190500" cy="1381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C1AFE169-D74B-2AF9-8275-1D65BD3824D9}"/>
              </a:ext>
            </a:extLst>
          </p:cNvPr>
          <p:cNvSpPr/>
          <p:nvPr/>
        </p:nvSpPr>
        <p:spPr>
          <a:xfrm>
            <a:off x="2479439" y="4251280"/>
            <a:ext cx="190500" cy="1381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DDA6FB73-AE4E-EAE9-5B84-DC78C9FA6426}"/>
              </a:ext>
            </a:extLst>
          </p:cNvPr>
          <p:cNvSpPr/>
          <p:nvPr/>
        </p:nvSpPr>
        <p:spPr>
          <a:xfrm>
            <a:off x="2895600" y="4956114"/>
            <a:ext cx="190500" cy="1381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3A9218FB-0AFC-1877-A5C7-A63D8018ECBB}"/>
              </a:ext>
            </a:extLst>
          </p:cNvPr>
          <p:cNvSpPr/>
          <p:nvPr/>
        </p:nvSpPr>
        <p:spPr>
          <a:xfrm>
            <a:off x="3244377" y="3951228"/>
            <a:ext cx="190500" cy="1381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556397A2-2869-3CA3-C081-B7EFEDCBADB4}"/>
              </a:ext>
            </a:extLst>
          </p:cNvPr>
          <p:cNvSpPr/>
          <p:nvPr/>
        </p:nvSpPr>
        <p:spPr>
          <a:xfrm>
            <a:off x="1824038" y="5065622"/>
            <a:ext cx="190500" cy="1381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5" name="Conector de Seta Reta 24">
            <a:extLst>
              <a:ext uri="{FF2B5EF4-FFF2-40B4-BE49-F238E27FC236}">
                <a16:creationId xmlns:a16="http://schemas.microsoft.com/office/drawing/2014/main" id="{FD25009F-722B-63DF-F317-4A344CDABE7A}"/>
              </a:ext>
            </a:extLst>
          </p:cNvPr>
          <p:cNvCxnSpPr>
            <a:cxnSpLocks/>
          </p:cNvCxnSpPr>
          <p:nvPr/>
        </p:nvCxnSpPr>
        <p:spPr>
          <a:xfrm>
            <a:off x="4882047" y="5286299"/>
            <a:ext cx="23431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ector de Seta Reta 25">
            <a:extLst>
              <a:ext uri="{FF2B5EF4-FFF2-40B4-BE49-F238E27FC236}">
                <a16:creationId xmlns:a16="http://schemas.microsoft.com/office/drawing/2014/main" id="{47BAFC2D-52EB-E5DC-2340-AB004E6234A8}"/>
              </a:ext>
            </a:extLst>
          </p:cNvPr>
          <p:cNvCxnSpPr/>
          <p:nvPr/>
        </p:nvCxnSpPr>
        <p:spPr>
          <a:xfrm flipV="1">
            <a:off x="4996347" y="3333675"/>
            <a:ext cx="0" cy="21335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tângulo 26">
            <a:extLst>
              <a:ext uri="{FF2B5EF4-FFF2-40B4-BE49-F238E27FC236}">
                <a16:creationId xmlns:a16="http://schemas.microsoft.com/office/drawing/2014/main" id="{E64E0783-5105-0EA0-E51B-2A459755B657}"/>
              </a:ext>
            </a:extLst>
          </p:cNvPr>
          <p:cNvSpPr/>
          <p:nvPr/>
        </p:nvSpPr>
        <p:spPr>
          <a:xfrm>
            <a:off x="6716724" y="5305259"/>
            <a:ext cx="508473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</a:t>
            </a:r>
            <a:r>
              <a:rPr lang="pt-BR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ux</a:t>
            </a: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89542E22-CFE9-F1F0-2387-3B31C2D2A07E}"/>
              </a:ext>
            </a:extLst>
          </p:cNvPr>
          <p:cNvSpPr/>
          <p:nvPr/>
        </p:nvSpPr>
        <p:spPr>
          <a:xfrm>
            <a:off x="3816536" y="3292344"/>
            <a:ext cx="1179811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20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SNRfiltro</a:t>
            </a:r>
            <a:endParaRPr lang="pt-BR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pt-BR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304B5748-01C2-6C3F-5BA1-DC77061AD7CC}"/>
              </a:ext>
            </a:extLst>
          </p:cNvPr>
          <p:cNvSpPr/>
          <p:nvPr/>
        </p:nvSpPr>
        <p:spPr>
          <a:xfrm>
            <a:off x="5405922" y="4638599"/>
            <a:ext cx="190500" cy="1381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Elipse 29">
            <a:extLst>
              <a:ext uri="{FF2B5EF4-FFF2-40B4-BE49-F238E27FC236}">
                <a16:creationId xmlns:a16="http://schemas.microsoft.com/office/drawing/2014/main" id="{062D58AA-3058-4B22-5472-A9251B9A3ED8}"/>
              </a:ext>
            </a:extLst>
          </p:cNvPr>
          <p:cNvSpPr/>
          <p:nvPr/>
        </p:nvSpPr>
        <p:spPr>
          <a:xfrm>
            <a:off x="5761286" y="4181355"/>
            <a:ext cx="190500" cy="1381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Elipse 30">
            <a:extLst>
              <a:ext uri="{FF2B5EF4-FFF2-40B4-BE49-F238E27FC236}">
                <a16:creationId xmlns:a16="http://schemas.microsoft.com/office/drawing/2014/main" id="{064CF09E-F56B-66BF-8588-AD4FAD619853}"/>
              </a:ext>
            </a:extLst>
          </p:cNvPr>
          <p:cNvSpPr/>
          <p:nvPr/>
        </p:nvSpPr>
        <p:spPr>
          <a:xfrm>
            <a:off x="6177447" y="4886189"/>
            <a:ext cx="190500" cy="1381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Elipse 31">
            <a:extLst>
              <a:ext uri="{FF2B5EF4-FFF2-40B4-BE49-F238E27FC236}">
                <a16:creationId xmlns:a16="http://schemas.microsoft.com/office/drawing/2014/main" id="{FD92ABA7-CDA2-A331-E0CA-E15C4FF1CCBA}"/>
              </a:ext>
            </a:extLst>
          </p:cNvPr>
          <p:cNvSpPr/>
          <p:nvPr/>
        </p:nvSpPr>
        <p:spPr>
          <a:xfrm>
            <a:off x="6526224" y="3881303"/>
            <a:ext cx="190500" cy="1381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1D4EB995-FCFD-CDB7-D35A-7A9918619A88}"/>
              </a:ext>
            </a:extLst>
          </p:cNvPr>
          <p:cNvSpPr/>
          <p:nvPr/>
        </p:nvSpPr>
        <p:spPr>
          <a:xfrm>
            <a:off x="5105885" y="4995697"/>
            <a:ext cx="190500" cy="1381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3" name="Conector de Seta Reta 42">
            <a:extLst>
              <a:ext uri="{FF2B5EF4-FFF2-40B4-BE49-F238E27FC236}">
                <a16:creationId xmlns:a16="http://schemas.microsoft.com/office/drawing/2014/main" id="{1C54027E-B068-E0EF-A8CF-6EE8B69B2A44}"/>
              </a:ext>
            </a:extLst>
          </p:cNvPr>
          <p:cNvCxnSpPr>
            <a:cxnSpLocks/>
          </p:cNvCxnSpPr>
          <p:nvPr/>
        </p:nvCxnSpPr>
        <p:spPr>
          <a:xfrm>
            <a:off x="8099448" y="5246746"/>
            <a:ext cx="23431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ector de Seta Reta 43">
            <a:extLst>
              <a:ext uri="{FF2B5EF4-FFF2-40B4-BE49-F238E27FC236}">
                <a16:creationId xmlns:a16="http://schemas.microsoft.com/office/drawing/2014/main" id="{0020D350-743A-F45F-2000-F7BF745D921E}"/>
              </a:ext>
            </a:extLst>
          </p:cNvPr>
          <p:cNvCxnSpPr/>
          <p:nvPr/>
        </p:nvCxnSpPr>
        <p:spPr>
          <a:xfrm flipV="1">
            <a:off x="8213748" y="3294122"/>
            <a:ext cx="0" cy="21335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tângulo 44">
            <a:extLst>
              <a:ext uri="{FF2B5EF4-FFF2-40B4-BE49-F238E27FC236}">
                <a16:creationId xmlns:a16="http://schemas.microsoft.com/office/drawing/2014/main" id="{713A5BD1-67BC-73ED-CE04-0DEEAE24BE08}"/>
              </a:ext>
            </a:extLst>
          </p:cNvPr>
          <p:cNvSpPr/>
          <p:nvPr/>
        </p:nvSpPr>
        <p:spPr>
          <a:xfrm>
            <a:off x="9934125" y="5265706"/>
            <a:ext cx="508473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</a:t>
            </a:r>
            <a:r>
              <a:rPr lang="pt-BR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ux</a:t>
            </a:r>
          </a:p>
        </p:txBody>
      </p:sp>
      <p:sp>
        <p:nvSpPr>
          <p:cNvPr id="46" name="Retângulo 45">
            <a:extLst>
              <a:ext uri="{FF2B5EF4-FFF2-40B4-BE49-F238E27FC236}">
                <a16:creationId xmlns:a16="http://schemas.microsoft.com/office/drawing/2014/main" id="{4C3E49BB-DA5A-41D4-4A27-9534CB43E48F}"/>
              </a:ext>
            </a:extLst>
          </p:cNvPr>
          <p:cNvSpPr/>
          <p:nvPr/>
        </p:nvSpPr>
        <p:spPr>
          <a:xfrm>
            <a:off x="7098382" y="3292344"/>
            <a:ext cx="1070871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20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SNRpga</a:t>
            </a:r>
            <a:endParaRPr lang="pt-BR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pt-BR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7" name="Elipse 46">
            <a:extLst>
              <a:ext uri="{FF2B5EF4-FFF2-40B4-BE49-F238E27FC236}">
                <a16:creationId xmlns:a16="http://schemas.microsoft.com/office/drawing/2014/main" id="{6ED43E1E-33CC-B34C-0D5C-6D81AA0F823B}"/>
              </a:ext>
            </a:extLst>
          </p:cNvPr>
          <p:cNvSpPr/>
          <p:nvPr/>
        </p:nvSpPr>
        <p:spPr>
          <a:xfrm>
            <a:off x="8623323" y="4599046"/>
            <a:ext cx="190500" cy="1381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8" name="Elipse 47">
            <a:extLst>
              <a:ext uri="{FF2B5EF4-FFF2-40B4-BE49-F238E27FC236}">
                <a16:creationId xmlns:a16="http://schemas.microsoft.com/office/drawing/2014/main" id="{C3E79A70-84E2-39F0-86AC-B53E4E77FBAD}"/>
              </a:ext>
            </a:extLst>
          </p:cNvPr>
          <p:cNvSpPr/>
          <p:nvPr/>
        </p:nvSpPr>
        <p:spPr>
          <a:xfrm>
            <a:off x="8978687" y="4141802"/>
            <a:ext cx="190500" cy="1381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9" name="Elipse 48">
            <a:extLst>
              <a:ext uri="{FF2B5EF4-FFF2-40B4-BE49-F238E27FC236}">
                <a16:creationId xmlns:a16="http://schemas.microsoft.com/office/drawing/2014/main" id="{69936750-DC49-9F96-26C9-1AC67A57371D}"/>
              </a:ext>
            </a:extLst>
          </p:cNvPr>
          <p:cNvSpPr/>
          <p:nvPr/>
        </p:nvSpPr>
        <p:spPr>
          <a:xfrm>
            <a:off x="9394848" y="4846636"/>
            <a:ext cx="190500" cy="1381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0" name="Elipse 49">
            <a:extLst>
              <a:ext uri="{FF2B5EF4-FFF2-40B4-BE49-F238E27FC236}">
                <a16:creationId xmlns:a16="http://schemas.microsoft.com/office/drawing/2014/main" id="{140257E8-822D-70E1-07ED-79865F529F7B}"/>
              </a:ext>
            </a:extLst>
          </p:cNvPr>
          <p:cNvSpPr/>
          <p:nvPr/>
        </p:nvSpPr>
        <p:spPr>
          <a:xfrm>
            <a:off x="9743625" y="3841750"/>
            <a:ext cx="190500" cy="1381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1" name="Elipse 50">
            <a:extLst>
              <a:ext uri="{FF2B5EF4-FFF2-40B4-BE49-F238E27FC236}">
                <a16:creationId xmlns:a16="http://schemas.microsoft.com/office/drawing/2014/main" id="{36BE0F00-59A9-73A0-1EF6-BFBD4251B1CA}"/>
              </a:ext>
            </a:extLst>
          </p:cNvPr>
          <p:cNvSpPr/>
          <p:nvPr/>
        </p:nvSpPr>
        <p:spPr>
          <a:xfrm>
            <a:off x="8323286" y="4956144"/>
            <a:ext cx="190500" cy="1381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85041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DB453-95D9-7E97-49CA-7178C58E4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393823-E5B1-210D-BFEF-E0F796B0F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Resultados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374DCD9-EA9A-0FBD-7E3B-A57DEBFBEB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1776"/>
            <a:ext cx="10610850" cy="2184400"/>
          </a:xfrm>
        </p:spPr>
        <p:txBody>
          <a:bodyPr/>
          <a:lstStyle/>
          <a:p>
            <a:pPr marL="0" indent="0">
              <a:buNone/>
            </a:pPr>
            <a:r>
              <a:rPr lang="pt-BR" dirty="0"/>
              <a:t>7- SNR no TIA, filtro, PGA em posições do ambiente (5 pontos) </a:t>
            </a:r>
          </a:p>
          <a:p>
            <a:r>
              <a:rPr lang="pt-BR" dirty="0"/>
              <a:t>SNR (dB) = 10 * log10 (Vsinal^2 / Vruido^2)</a:t>
            </a:r>
            <a:endParaRPr lang="pt-BR" b="1" dirty="0">
              <a:solidFill>
                <a:srgbClr val="FF0000"/>
              </a:solidFill>
            </a:endParaRPr>
          </a:p>
          <a:p>
            <a:r>
              <a:rPr lang="pt-BR" b="1" dirty="0" err="1">
                <a:solidFill>
                  <a:srgbClr val="FF0000"/>
                </a:solidFill>
              </a:rPr>
              <a:t>Vsinal</a:t>
            </a:r>
            <a:r>
              <a:rPr lang="pt-BR" b="1" dirty="0">
                <a:solidFill>
                  <a:srgbClr val="FF0000"/>
                </a:solidFill>
              </a:rPr>
              <a:t>= tensão resultados 1, </a:t>
            </a:r>
            <a:r>
              <a:rPr lang="pt-BR" b="1" dirty="0" err="1">
                <a:solidFill>
                  <a:srgbClr val="FF0000"/>
                </a:solidFill>
              </a:rPr>
              <a:t>Vruido</a:t>
            </a:r>
            <a:r>
              <a:rPr lang="pt-BR" b="1" dirty="0">
                <a:solidFill>
                  <a:srgbClr val="FF0000"/>
                </a:solidFill>
              </a:rPr>
              <a:t> = tensão resultados 5</a:t>
            </a:r>
            <a:endParaRPr lang="pt-BR" dirty="0"/>
          </a:p>
        </p:txBody>
      </p:sp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AFBE14B7-B760-58B5-58C0-BF106A6BD62D}"/>
              </a:ext>
            </a:extLst>
          </p:cNvPr>
          <p:cNvCxnSpPr>
            <a:cxnSpLocks/>
          </p:cNvCxnSpPr>
          <p:nvPr/>
        </p:nvCxnSpPr>
        <p:spPr>
          <a:xfrm>
            <a:off x="1600200" y="5356224"/>
            <a:ext cx="23431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38ACA8E4-1AF6-A908-56EF-7F50C40FE0A7}"/>
              </a:ext>
            </a:extLst>
          </p:cNvPr>
          <p:cNvCxnSpPr/>
          <p:nvPr/>
        </p:nvCxnSpPr>
        <p:spPr>
          <a:xfrm flipV="1">
            <a:off x="1714500" y="3403600"/>
            <a:ext cx="0" cy="21335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tângulo 7">
            <a:extLst>
              <a:ext uri="{FF2B5EF4-FFF2-40B4-BE49-F238E27FC236}">
                <a16:creationId xmlns:a16="http://schemas.microsoft.com/office/drawing/2014/main" id="{06FF6C69-ABFF-13F7-F677-5605E5B39D4E}"/>
              </a:ext>
            </a:extLst>
          </p:cNvPr>
          <p:cNvSpPr/>
          <p:nvPr/>
        </p:nvSpPr>
        <p:spPr>
          <a:xfrm>
            <a:off x="3434877" y="5375184"/>
            <a:ext cx="508473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</a:t>
            </a:r>
            <a:r>
              <a:rPr lang="pt-BR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ux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78DF33B1-F508-1B92-542C-C767724D55EE}"/>
              </a:ext>
            </a:extLst>
          </p:cNvPr>
          <p:cNvSpPr/>
          <p:nvPr/>
        </p:nvSpPr>
        <p:spPr>
          <a:xfrm>
            <a:off x="819056" y="3403600"/>
            <a:ext cx="947439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20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SNRtia</a:t>
            </a:r>
            <a:endParaRPr lang="pt-BR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97440648-422A-BB8E-9876-6513AAD7647F}"/>
              </a:ext>
            </a:extLst>
          </p:cNvPr>
          <p:cNvSpPr/>
          <p:nvPr/>
        </p:nvSpPr>
        <p:spPr>
          <a:xfrm>
            <a:off x="2124075" y="4708524"/>
            <a:ext cx="190500" cy="1381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FBAA2881-4F92-4457-0AAA-59C42048903A}"/>
              </a:ext>
            </a:extLst>
          </p:cNvPr>
          <p:cNvSpPr/>
          <p:nvPr/>
        </p:nvSpPr>
        <p:spPr>
          <a:xfrm>
            <a:off x="2479439" y="4251280"/>
            <a:ext cx="190500" cy="1381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B08A10D9-F447-3910-484D-383B3E78C85C}"/>
              </a:ext>
            </a:extLst>
          </p:cNvPr>
          <p:cNvSpPr/>
          <p:nvPr/>
        </p:nvSpPr>
        <p:spPr>
          <a:xfrm>
            <a:off x="2895600" y="4956114"/>
            <a:ext cx="190500" cy="1381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F9C2A971-3670-4471-D1DD-72CC3CD43A64}"/>
              </a:ext>
            </a:extLst>
          </p:cNvPr>
          <p:cNvSpPr/>
          <p:nvPr/>
        </p:nvSpPr>
        <p:spPr>
          <a:xfrm>
            <a:off x="3244377" y="3951228"/>
            <a:ext cx="190500" cy="1381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EF3B3F3C-583A-3D1D-6FD9-8AC6C0798328}"/>
              </a:ext>
            </a:extLst>
          </p:cNvPr>
          <p:cNvSpPr/>
          <p:nvPr/>
        </p:nvSpPr>
        <p:spPr>
          <a:xfrm>
            <a:off x="1824038" y="5065622"/>
            <a:ext cx="190500" cy="1381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5" name="Conector de Seta Reta 24">
            <a:extLst>
              <a:ext uri="{FF2B5EF4-FFF2-40B4-BE49-F238E27FC236}">
                <a16:creationId xmlns:a16="http://schemas.microsoft.com/office/drawing/2014/main" id="{D2CCDF53-B2D3-A979-8B8E-85F733E549FB}"/>
              </a:ext>
            </a:extLst>
          </p:cNvPr>
          <p:cNvCxnSpPr>
            <a:cxnSpLocks/>
          </p:cNvCxnSpPr>
          <p:nvPr/>
        </p:nvCxnSpPr>
        <p:spPr>
          <a:xfrm>
            <a:off x="4882047" y="5286299"/>
            <a:ext cx="23431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ector de Seta Reta 25">
            <a:extLst>
              <a:ext uri="{FF2B5EF4-FFF2-40B4-BE49-F238E27FC236}">
                <a16:creationId xmlns:a16="http://schemas.microsoft.com/office/drawing/2014/main" id="{1233ECA0-BBB9-5363-A765-7F136051710B}"/>
              </a:ext>
            </a:extLst>
          </p:cNvPr>
          <p:cNvCxnSpPr/>
          <p:nvPr/>
        </p:nvCxnSpPr>
        <p:spPr>
          <a:xfrm flipV="1">
            <a:off x="4996347" y="3333675"/>
            <a:ext cx="0" cy="21335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tângulo 26">
            <a:extLst>
              <a:ext uri="{FF2B5EF4-FFF2-40B4-BE49-F238E27FC236}">
                <a16:creationId xmlns:a16="http://schemas.microsoft.com/office/drawing/2014/main" id="{20171802-C3C2-D3C6-8499-7F8DFD7C1F75}"/>
              </a:ext>
            </a:extLst>
          </p:cNvPr>
          <p:cNvSpPr/>
          <p:nvPr/>
        </p:nvSpPr>
        <p:spPr>
          <a:xfrm>
            <a:off x="6716724" y="5305259"/>
            <a:ext cx="508473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</a:t>
            </a:r>
            <a:r>
              <a:rPr lang="pt-BR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ux</a:t>
            </a: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BA95015A-FAAC-8D16-6258-C1F0B7F46495}"/>
              </a:ext>
            </a:extLst>
          </p:cNvPr>
          <p:cNvSpPr/>
          <p:nvPr/>
        </p:nvSpPr>
        <p:spPr>
          <a:xfrm>
            <a:off x="3816536" y="3292344"/>
            <a:ext cx="1179811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20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SNRfiltro</a:t>
            </a:r>
            <a:endParaRPr lang="pt-BR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pt-BR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EB90147C-CEB2-2A20-EAB5-058BF549A3D1}"/>
              </a:ext>
            </a:extLst>
          </p:cNvPr>
          <p:cNvSpPr/>
          <p:nvPr/>
        </p:nvSpPr>
        <p:spPr>
          <a:xfrm>
            <a:off x="5405922" y="4638599"/>
            <a:ext cx="190500" cy="1381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Elipse 29">
            <a:extLst>
              <a:ext uri="{FF2B5EF4-FFF2-40B4-BE49-F238E27FC236}">
                <a16:creationId xmlns:a16="http://schemas.microsoft.com/office/drawing/2014/main" id="{5CB1B1F2-7923-9429-D54A-2D4F448DDC8F}"/>
              </a:ext>
            </a:extLst>
          </p:cNvPr>
          <p:cNvSpPr/>
          <p:nvPr/>
        </p:nvSpPr>
        <p:spPr>
          <a:xfrm>
            <a:off x="5761286" y="4181355"/>
            <a:ext cx="190500" cy="1381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Elipse 30">
            <a:extLst>
              <a:ext uri="{FF2B5EF4-FFF2-40B4-BE49-F238E27FC236}">
                <a16:creationId xmlns:a16="http://schemas.microsoft.com/office/drawing/2014/main" id="{66BE4F81-0BA7-1FAE-16C8-799D1499B47B}"/>
              </a:ext>
            </a:extLst>
          </p:cNvPr>
          <p:cNvSpPr/>
          <p:nvPr/>
        </p:nvSpPr>
        <p:spPr>
          <a:xfrm>
            <a:off x="6177447" y="4886189"/>
            <a:ext cx="190500" cy="1381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Elipse 31">
            <a:extLst>
              <a:ext uri="{FF2B5EF4-FFF2-40B4-BE49-F238E27FC236}">
                <a16:creationId xmlns:a16="http://schemas.microsoft.com/office/drawing/2014/main" id="{8BDA3368-4770-0875-1C2E-58BD415672F3}"/>
              </a:ext>
            </a:extLst>
          </p:cNvPr>
          <p:cNvSpPr/>
          <p:nvPr/>
        </p:nvSpPr>
        <p:spPr>
          <a:xfrm>
            <a:off x="6526224" y="3881303"/>
            <a:ext cx="190500" cy="1381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44CA1033-F18A-0A6F-9A02-7C890DCCE6A4}"/>
              </a:ext>
            </a:extLst>
          </p:cNvPr>
          <p:cNvSpPr/>
          <p:nvPr/>
        </p:nvSpPr>
        <p:spPr>
          <a:xfrm>
            <a:off x="5105885" y="4995697"/>
            <a:ext cx="190500" cy="1381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3" name="Conector de Seta Reta 42">
            <a:extLst>
              <a:ext uri="{FF2B5EF4-FFF2-40B4-BE49-F238E27FC236}">
                <a16:creationId xmlns:a16="http://schemas.microsoft.com/office/drawing/2014/main" id="{AF4C012D-E6F4-C8AC-50FD-DFF047652D67}"/>
              </a:ext>
            </a:extLst>
          </p:cNvPr>
          <p:cNvCxnSpPr>
            <a:cxnSpLocks/>
          </p:cNvCxnSpPr>
          <p:nvPr/>
        </p:nvCxnSpPr>
        <p:spPr>
          <a:xfrm>
            <a:off x="8099448" y="5246746"/>
            <a:ext cx="23431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ector de Seta Reta 43">
            <a:extLst>
              <a:ext uri="{FF2B5EF4-FFF2-40B4-BE49-F238E27FC236}">
                <a16:creationId xmlns:a16="http://schemas.microsoft.com/office/drawing/2014/main" id="{0F5A9E34-83A9-C800-52DA-A46A76FE3EEA}"/>
              </a:ext>
            </a:extLst>
          </p:cNvPr>
          <p:cNvCxnSpPr/>
          <p:nvPr/>
        </p:nvCxnSpPr>
        <p:spPr>
          <a:xfrm flipV="1">
            <a:off x="8213748" y="3294122"/>
            <a:ext cx="0" cy="21335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tângulo 44">
            <a:extLst>
              <a:ext uri="{FF2B5EF4-FFF2-40B4-BE49-F238E27FC236}">
                <a16:creationId xmlns:a16="http://schemas.microsoft.com/office/drawing/2014/main" id="{B9903C22-1504-2747-CBC2-0DB2322A45A2}"/>
              </a:ext>
            </a:extLst>
          </p:cNvPr>
          <p:cNvSpPr/>
          <p:nvPr/>
        </p:nvSpPr>
        <p:spPr>
          <a:xfrm>
            <a:off x="9934125" y="5265706"/>
            <a:ext cx="508473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</a:t>
            </a:r>
            <a:r>
              <a:rPr lang="pt-BR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ux</a:t>
            </a:r>
          </a:p>
        </p:txBody>
      </p:sp>
      <p:sp>
        <p:nvSpPr>
          <p:cNvPr id="46" name="Retângulo 45">
            <a:extLst>
              <a:ext uri="{FF2B5EF4-FFF2-40B4-BE49-F238E27FC236}">
                <a16:creationId xmlns:a16="http://schemas.microsoft.com/office/drawing/2014/main" id="{9A157722-7A24-2FF5-85CA-E1BCB322F1F0}"/>
              </a:ext>
            </a:extLst>
          </p:cNvPr>
          <p:cNvSpPr/>
          <p:nvPr/>
        </p:nvSpPr>
        <p:spPr>
          <a:xfrm>
            <a:off x="7098382" y="3292344"/>
            <a:ext cx="1070871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20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SNRpga</a:t>
            </a:r>
            <a:endParaRPr lang="pt-BR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pt-BR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7" name="Elipse 46">
            <a:extLst>
              <a:ext uri="{FF2B5EF4-FFF2-40B4-BE49-F238E27FC236}">
                <a16:creationId xmlns:a16="http://schemas.microsoft.com/office/drawing/2014/main" id="{4BBB2A1D-4905-F0F4-9D7E-C0E58C1C5C43}"/>
              </a:ext>
            </a:extLst>
          </p:cNvPr>
          <p:cNvSpPr/>
          <p:nvPr/>
        </p:nvSpPr>
        <p:spPr>
          <a:xfrm>
            <a:off x="8623323" y="4599046"/>
            <a:ext cx="190500" cy="1381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8" name="Elipse 47">
            <a:extLst>
              <a:ext uri="{FF2B5EF4-FFF2-40B4-BE49-F238E27FC236}">
                <a16:creationId xmlns:a16="http://schemas.microsoft.com/office/drawing/2014/main" id="{346DEF32-9046-E223-27E7-63E5514DC050}"/>
              </a:ext>
            </a:extLst>
          </p:cNvPr>
          <p:cNvSpPr/>
          <p:nvPr/>
        </p:nvSpPr>
        <p:spPr>
          <a:xfrm>
            <a:off x="8978687" y="4141802"/>
            <a:ext cx="190500" cy="1381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9" name="Elipse 48">
            <a:extLst>
              <a:ext uri="{FF2B5EF4-FFF2-40B4-BE49-F238E27FC236}">
                <a16:creationId xmlns:a16="http://schemas.microsoft.com/office/drawing/2014/main" id="{7D28CAD0-A4A0-A391-C147-56DC44BF1480}"/>
              </a:ext>
            </a:extLst>
          </p:cNvPr>
          <p:cNvSpPr/>
          <p:nvPr/>
        </p:nvSpPr>
        <p:spPr>
          <a:xfrm>
            <a:off x="9394848" y="4846636"/>
            <a:ext cx="190500" cy="1381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0" name="Elipse 49">
            <a:extLst>
              <a:ext uri="{FF2B5EF4-FFF2-40B4-BE49-F238E27FC236}">
                <a16:creationId xmlns:a16="http://schemas.microsoft.com/office/drawing/2014/main" id="{92F5546F-EDFE-0836-A658-86E03878EA4C}"/>
              </a:ext>
            </a:extLst>
          </p:cNvPr>
          <p:cNvSpPr/>
          <p:nvPr/>
        </p:nvSpPr>
        <p:spPr>
          <a:xfrm>
            <a:off x="9743625" y="3841750"/>
            <a:ext cx="190500" cy="1381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1" name="Elipse 50">
            <a:extLst>
              <a:ext uri="{FF2B5EF4-FFF2-40B4-BE49-F238E27FC236}">
                <a16:creationId xmlns:a16="http://schemas.microsoft.com/office/drawing/2014/main" id="{5B73093F-0AE9-07E7-96E7-A5C3BB46B8A4}"/>
              </a:ext>
            </a:extLst>
          </p:cNvPr>
          <p:cNvSpPr/>
          <p:nvPr/>
        </p:nvSpPr>
        <p:spPr>
          <a:xfrm>
            <a:off x="8323286" y="4956144"/>
            <a:ext cx="190500" cy="1381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15766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5F9EC-E05E-A3CC-A9BC-710F837F2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5CBE1-4ED6-493A-78C7-C25A35B8E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Resultados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E699402-CB7F-0E93-96CB-8EF31E14A3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1776"/>
            <a:ext cx="10610850" cy="2184400"/>
          </a:xfrm>
        </p:spPr>
        <p:txBody>
          <a:bodyPr/>
          <a:lstStyle/>
          <a:p>
            <a:pPr marL="0" indent="0">
              <a:buNone/>
            </a:pPr>
            <a:r>
              <a:rPr lang="pt-BR" dirty="0"/>
              <a:t>6- BER x SNR</a:t>
            </a:r>
          </a:p>
          <a:p>
            <a:pPr marL="0" indent="0">
              <a:buNone/>
            </a:pPr>
            <a:endParaRPr lang="pt-BR" dirty="0"/>
          </a:p>
        </p:txBody>
      </p:sp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D26DB14E-C6E1-CA01-113B-7415DF7F245B}"/>
              </a:ext>
            </a:extLst>
          </p:cNvPr>
          <p:cNvCxnSpPr>
            <a:cxnSpLocks/>
          </p:cNvCxnSpPr>
          <p:nvPr/>
        </p:nvCxnSpPr>
        <p:spPr>
          <a:xfrm>
            <a:off x="1600200" y="5356224"/>
            <a:ext cx="23431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B99AE634-6638-4CB4-6541-62AF906562EF}"/>
              </a:ext>
            </a:extLst>
          </p:cNvPr>
          <p:cNvCxnSpPr/>
          <p:nvPr/>
        </p:nvCxnSpPr>
        <p:spPr>
          <a:xfrm flipV="1">
            <a:off x="1714500" y="3403600"/>
            <a:ext cx="0" cy="21335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tângulo 7">
            <a:extLst>
              <a:ext uri="{FF2B5EF4-FFF2-40B4-BE49-F238E27FC236}">
                <a16:creationId xmlns:a16="http://schemas.microsoft.com/office/drawing/2014/main" id="{1FF42283-C30E-C321-9823-96CAC365F89A}"/>
              </a:ext>
            </a:extLst>
          </p:cNvPr>
          <p:cNvSpPr/>
          <p:nvPr/>
        </p:nvSpPr>
        <p:spPr>
          <a:xfrm>
            <a:off x="3355529" y="5375184"/>
            <a:ext cx="667170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SNR</a:t>
            </a:r>
            <a:endParaRPr lang="pt-BR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9D224FEF-91A0-A932-204D-9434D2D0257C}"/>
              </a:ext>
            </a:extLst>
          </p:cNvPr>
          <p:cNvSpPr/>
          <p:nvPr/>
        </p:nvSpPr>
        <p:spPr>
          <a:xfrm>
            <a:off x="973618" y="3403600"/>
            <a:ext cx="638316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BER</a:t>
            </a:r>
            <a:endParaRPr lang="pt-BR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16B36237-1ADD-8543-6401-A630AF42035A}"/>
              </a:ext>
            </a:extLst>
          </p:cNvPr>
          <p:cNvSpPr/>
          <p:nvPr/>
        </p:nvSpPr>
        <p:spPr>
          <a:xfrm>
            <a:off x="2124075" y="4708524"/>
            <a:ext cx="190500" cy="1381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21501671-B889-4579-2A36-8EC88E704528}"/>
              </a:ext>
            </a:extLst>
          </p:cNvPr>
          <p:cNvSpPr/>
          <p:nvPr/>
        </p:nvSpPr>
        <p:spPr>
          <a:xfrm>
            <a:off x="2479439" y="4251280"/>
            <a:ext cx="190500" cy="1381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60512843-104E-0CDB-D3E4-3017AAC855B6}"/>
              </a:ext>
            </a:extLst>
          </p:cNvPr>
          <p:cNvSpPr/>
          <p:nvPr/>
        </p:nvSpPr>
        <p:spPr>
          <a:xfrm>
            <a:off x="2895600" y="4956114"/>
            <a:ext cx="190500" cy="1381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0A2FC2A1-7C6B-5597-406F-9BC4887282B9}"/>
              </a:ext>
            </a:extLst>
          </p:cNvPr>
          <p:cNvSpPr/>
          <p:nvPr/>
        </p:nvSpPr>
        <p:spPr>
          <a:xfrm>
            <a:off x="3244377" y="3951228"/>
            <a:ext cx="190500" cy="1381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754DF8B5-929A-D8C4-2B9A-D9E1E01D5366}"/>
              </a:ext>
            </a:extLst>
          </p:cNvPr>
          <p:cNvSpPr/>
          <p:nvPr/>
        </p:nvSpPr>
        <p:spPr>
          <a:xfrm>
            <a:off x="1824038" y="5065622"/>
            <a:ext cx="190500" cy="1381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705499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</TotalTime>
  <Words>471</Words>
  <Application>Microsoft Office PowerPoint</Application>
  <PresentationFormat>Widescreen</PresentationFormat>
  <Paragraphs>105</Paragraphs>
  <Slides>13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Tema do Office</vt:lpstr>
      <vt:lpstr>Artigo: PGA para VLC</vt:lpstr>
      <vt:lpstr>Objetivos</vt:lpstr>
      <vt:lpstr>Ambiente de Testes</vt:lpstr>
      <vt:lpstr>Resultados</vt:lpstr>
      <vt:lpstr>Resultados</vt:lpstr>
      <vt:lpstr>Resultados</vt:lpstr>
      <vt:lpstr>Resultados</vt:lpstr>
      <vt:lpstr>Resultados</vt:lpstr>
      <vt:lpstr>Resultados</vt:lpstr>
      <vt:lpstr>Resultados</vt:lpstr>
      <vt:lpstr>Resultados</vt:lpstr>
      <vt:lpstr>Resultados</vt:lpstr>
      <vt:lpstr>Resultados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Franciele Pimentel</dc:creator>
  <cp:lastModifiedBy>Franciele Pimentel</cp:lastModifiedBy>
  <cp:revision>38</cp:revision>
  <dcterms:created xsi:type="dcterms:W3CDTF">2025-07-11T11:08:20Z</dcterms:created>
  <dcterms:modified xsi:type="dcterms:W3CDTF">2025-07-11T14:42:00Z</dcterms:modified>
</cp:coreProperties>
</file>